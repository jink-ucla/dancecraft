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a09e73a8f9a4e46" /><Relationship Type="http://schemas.openxmlformats.org/officeDocument/2006/relationships/extended-properties" Target="/docProps/app.xml" Id="R830ca9c99a904fda" /><Relationship Type="http://schemas.openxmlformats.org/officeDocument/2006/relationships/officeDocument" Target="/ppt/presentation.xml" Id="Rfdabd730f86649cf" /></Relationships>
</file>

<file path=ppt/presentation.xml><?xml version="1.0" encoding="utf-8"?>
<p:presentation xmlns:p="http://schemas.openxmlformats.org/presentationml/2006/main">
  <p:sldMasterIdLst>
    <p:sldMasterId xmlns:r="http://schemas.openxmlformats.org/officeDocument/2006/relationships" id="2147483648" r:id="R571c060d336c4f5e"/>
  </p:sldMasterIdLst>
  <p:notesMasterIdLst>
    <p:notesMasterId xmlns:r="http://schemas.openxmlformats.org/officeDocument/2006/relationships" r:id="R55420f9956dd4440"/>
  </p:notesMasterIdLst>
  <p:sldIdLst>
    <p:sldId xmlns:r="http://schemas.openxmlformats.org/officeDocument/2006/relationships" id="256" r:id="R95e7a244ecea4484"/>
    <p:sldId xmlns:r="http://schemas.openxmlformats.org/officeDocument/2006/relationships" id="257" r:id="Re8eb708675a84f64"/>
    <p:sldId xmlns:r="http://schemas.openxmlformats.org/officeDocument/2006/relationships" id="258" r:id="Rc206209c8cd0490e"/>
    <p:sldId xmlns:r="http://schemas.openxmlformats.org/officeDocument/2006/relationships" id="259" r:id="R5f43b34adb1a45a4"/>
    <p:sldId xmlns:r="http://schemas.openxmlformats.org/officeDocument/2006/relationships" id="260" r:id="R01ebf7eb607d4f4e"/>
    <p:sldId xmlns:r="http://schemas.openxmlformats.org/officeDocument/2006/relationships" id="261" r:id="Rfe7e62c1cc7f4906"/>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c1c283d47c614de5" /><Relationship Type="http://schemas.openxmlformats.org/officeDocument/2006/relationships/slideMaster" Target="/ppt/slideMasters/slideMaster1.xml" Id="R571c060d336c4f5e" /><Relationship Type="http://schemas.openxmlformats.org/officeDocument/2006/relationships/notesMaster" Target="/ppt/notesMasters/notesMaster1.xml" Id="R55420f9956dd4440" /><Relationship Type="http://schemas.openxmlformats.org/officeDocument/2006/relationships/presProps" Target="/ppt/presProps.xml" Id="R092c5a95319b4b90" /><Relationship Type="http://schemas.openxmlformats.org/officeDocument/2006/relationships/viewProps" Target="/ppt/viewProps.xml" Id="Rf9f1da6de3da4966" /><Relationship Type="http://schemas.openxmlformats.org/officeDocument/2006/relationships/tableStyles" Target="/ppt/tableStyles.xml" Id="R2c2e9f5969bd4f58" /><Relationship Type="http://schemas.openxmlformats.org/officeDocument/2006/relationships/slide" Target="/ppt/slides/slide1.xml" Id="R95e7a244ecea4484" /><Relationship Type="http://schemas.openxmlformats.org/officeDocument/2006/relationships/slide" Target="/ppt/slides/slide2.xml" Id="Re8eb708675a84f64" /><Relationship Type="http://schemas.openxmlformats.org/officeDocument/2006/relationships/slide" Target="/ppt/slides/slide3.xml" Id="Rc206209c8cd0490e" /><Relationship Type="http://schemas.openxmlformats.org/officeDocument/2006/relationships/slide" Target="/ppt/slides/slide4.xml" Id="R5f43b34adb1a45a4" /><Relationship Type="http://schemas.openxmlformats.org/officeDocument/2006/relationships/slide" Target="/ppt/slides/slide5.xml" Id="R01ebf7eb607d4f4e" /><Relationship Type="http://schemas.openxmlformats.org/officeDocument/2006/relationships/slide" Target="/ppt/slides/slide6.xml" Id="Rfe7e62c1cc7f490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6faaa881a1246a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658bd9dad414cec" /><Relationship Type="http://schemas.openxmlformats.org/officeDocument/2006/relationships/notesMaster" Target="/ppt/notesMasters/notesMaster1.xml" Id="R29ad55b9a6da4cb9" /></Relationships>
</file>

<file path=ppt/notesSlides/_rels/notesSlide2.xml.rels>&#65279;<?xml version="1.0" encoding="utf-8"?><Relationships xmlns="http://schemas.openxmlformats.org/package/2006/relationships"><Relationship Type="http://schemas.openxmlformats.org/officeDocument/2006/relationships/slide" Target="/ppt/slides/slide2.xml" Id="R47725052b9b24b73" /><Relationship Type="http://schemas.openxmlformats.org/officeDocument/2006/relationships/notesMaster" Target="/ppt/notesMasters/notesMaster1.xml" Id="Rad76fcac1e334f8f" /></Relationships>
</file>

<file path=ppt/notesSlides/_rels/notesSlide3.xml.rels>&#65279;<?xml version="1.0" encoding="utf-8"?><Relationships xmlns="http://schemas.openxmlformats.org/package/2006/relationships"><Relationship Type="http://schemas.openxmlformats.org/officeDocument/2006/relationships/slide" Target="/ppt/slides/slide3.xml" Id="R9cef282184b34d2a" /><Relationship Type="http://schemas.openxmlformats.org/officeDocument/2006/relationships/notesMaster" Target="/ppt/notesMasters/notesMaster1.xml" Id="Rce5955e9d6274be3" /></Relationships>
</file>

<file path=ppt/notesSlides/_rels/notesSlide4.xml.rels>&#65279;<?xml version="1.0" encoding="utf-8"?><Relationships xmlns="http://schemas.openxmlformats.org/package/2006/relationships"><Relationship Type="http://schemas.openxmlformats.org/officeDocument/2006/relationships/slide" Target="/ppt/slides/slide4.xml" Id="Ra782e4adfd46405b" /><Relationship Type="http://schemas.openxmlformats.org/officeDocument/2006/relationships/notesMaster" Target="/ppt/notesMasters/notesMaster1.xml" Id="Rf47a1fe089c74639" /></Relationships>
</file>

<file path=ppt/notesSlides/_rels/notesSlide5.xml.rels>&#65279;<?xml version="1.0" encoding="utf-8"?><Relationships xmlns="http://schemas.openxmlformats.org/package/2006/relationships"><Relationship Type="http://schemas.openxmlformats.org/officeDocument/2006/relationships/slide" Target="/ppt/slides/slide5.xml" Id="R13ba454be8bb4cff" /><Relationship Type="http://schemas.openxmlformats.org/officeDocument/2006/relationships/notesMaster" Target="/ppt/notesMasters/notesMaster1.xml" Id="R0c1156cbc7324d1d" /></Relationships>
</file>

<file path=ppt/notesSlides/_rels/notesSlide6.xml.rels>&#65279;<?xml version="1.0" encoding="utf-8"?><Relationships xmlns="http://schemas.openxmlformats.org/package/2006/relationships"><Relationship Type="http://schemas.openxmlformats.org/officeDocument/2006/relationships/slide" Target="/ppt/slides/slide6.xml" Id="R5ad5d25615844df7" /><Relationship Type="http://schemas.openxmlformats.org/officeDocument/2006/relationships/notesMaster" Target="/ppt/notesMasters/notesMaster1.xml" Id="R477052f0318a477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0:00-0:20</a:t>
            </a:r>
          </a:p>
          <a:p xmlns:a="http://schemas.openxmlformats.org/drawingml/2006/main">
            <a:r>
              <a:t>DanceCraft turns a short dance into a challenge with a useful next step. Follow the host, see your score, and practice the section Claude recommends before trying again. We want the rematch to feel fun and help the player improve.</a:t>
            </a:r>
          </a:p>
          <a:p xmlns:a="http://schemas.openxmlformats.org/drawingml/2006/main">
            <a:r>
              <a:t/>
            </a:r>
            <a:endParaRPr/>
          </a:p>
          <a:p xmlns:a="http://schemas.openxmlformats.org/drawingml/2006/main">
            <a:r>
              <a:t>Visual: concept artwork adapted from the user-supplied Groovy_Plus_AI_Motion_Arena.pptx. The illustration does not depict an actual recorded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0:20-0:45</a:t>
            </a:r>
          </a:p>
          <a:p xmlns:a="http://schemas.openxmlformats.org/drawingml/2006/main">
            <a:r>
              <a:t>Choose a reference routine and its Mirror setting. A webcam tracks one dancer while the motion engine calculates the score. The player can replay a move at its timestamp and see the evidence behind the result. The current challenge supports players taking turns with a shared leaderboard.</a:t>
            </a:r>
          </a:p>
          <a:p xmlns:a="http://schemas.openxmlformats.org/drawingml/2006/main">
            <a:r>
              <a:t/>
            </a:r>
            <a:endParaRPr/>
          </a:p>
          <a:p xmlns:a="http://schemas.openxmlformats.org/drawingml/2006/main">
            <a:r>
              <a:t>Visuals: supplied concept screens and illustrative scores. Feature sources: C:/Users/jink/dancecraft/groovy/src/App.tsx and src/components/ReplayMode.tsx. We do not claim simultaneous online party rooms.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0:45-1:25</a:t>
            </a:r>
          </a:p>
          <a:p xmlns:a="http://schemas.openxmlformats.org/drawingml/2006/main">
            <a:r>
              <a:t>The Anthropic API turns measured performance into a practical intervention. Claude receives section scores, body-part scores and tracking evidence. It selects a section to loop, a slower playback speed, a repeat count and a concrete cue. The app applies that structured plan in PracticeMode. Tracking evidence comes first, so the coach should recognize missing visibility or very little movement before giving technique advice. The integration is implemented, but today's account has exhausted its API credits. The app labels its built-in coach fallback.</a:t>
            </a:r>
          </a:p>
          <a:p xmlns:a="http://schemas.openxmlformats.org/drawingml/2006/main">
            <a:r>
              <a:t/>
            </a:r>
            <a:endParaRPr/>
          </a:p>
          <a:p xmlns:a="http://schemas.openxmlformats.org/drawingml/2006/main">
            <a:r>
              <a:t>Visuals: supplied concepts with an example plan, not a live API response. Sources: server/coach/claude.ts, src/coach/types.ts, src/components/PracticeMode.tsx. A direct local API test returned insufficient credit balance.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1:25-1:50</a:t>
            </a:r>
          </a:p>
          <a:p xmlns:a="http://schemas.openxmlformats.org/drawingml/2006/main">
            <a:r>
              <a:t>Groovy provides the video import, pose tracking, replay and practice foundation under the MIT license. DanceCraft adds the Claude practice plan, executable drills, a host challenge and evidence-aware review. A separate motion scorer calculates the numeric result. Claude explains the evidence and selects what to practice.</a:t>
            </a:r>
          </a:p>
          <a:p xmlns:a="http://schemas.openxmlformats.org/drawingml/2006/main">
            <a:r>
              <a:t/>
            </a:r>
            <a:endParaRPr/>
          </a:p>
          <a:p xmlns:a="http://schemas.openxmlformats.org/drawingml/2006/main">
            <a:r>
              <a:t>Attribution: Groovy by JoeyWangTW, https://github.com/JoeyWangTW/groovy, MIT. Concept screens contain illustrative numbers. The scoring lab checks synthetic perturbations and still recordings, not validated human dance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1:50-2:45</a:t>
            </a:r>
          </a:p>
          <a:p xmlns:a="http://schemas.openxmlformats.org/drawingml/2006/main">
            <a:r>
              <a:t>Open DanceCraft_04_Synced_With_Audio.mp4 from the delivered video folder. Play approximately 25-30 seconds, then return to the app's saved result. Show the timestamped replay and the separate player and reference skeleton exports. Explain how the player can inspect a difficult move, practice the selected section, then retry against the host score. If the live app is unavailable, the saved video is the demo backup.</a:t>
            </a:r>
          </a:p>
          <a:p xmlns:a="http://schemas.openxmlformats.org/drawingml/2006/main">
            <a:r>
              <a:t/>
            </a:r>
            <a:endParaRPr/>
          </a:p>
          <a:p xmlns:a="http://schemas.openxmlformats.org/drawingml/2006/main">
            <a:r>
              <a:t>The poster is a frame from the user's latest saved history and synchronized video export. The export matches the song timeline using the recorded start marker, without changing the player's movement timing. The reference clip originates from the video registered by the user. Separate files: DanceCraft_01_Camera.mp4, DanceCraft_02_Camera_Skeleton.mp4, DanceCraft_03_Reference.mp4, DanceCraft_04_Synced_With_Audio.mp4, DanceCraft_05_Reference_Skeleton.mp4.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2:45-3:00</a:t>
            </a:r>
            <a:endParaRPr/>
          </a:p>
          <a:p xmlns:a="http://schemas.openxmlformats.org/drawingml/2006/main">
            <a:r>
              <a:t>We are Jin Kim and M. Wasil Wahi-Anwar. DanceCraft makes a dance challenge replayable and gives each attempt a specific next step. Thank you.</a:t>
            </a:r>
            <a:endParaRPr/>
          </a:p>
          <a:p xmlns:a="http://schemas.openxmlformats.org/drawingml/2006/main">
            <a:r>
              <a:t/>
            </a:r>
            <a:endParaRPr/>
          </a:p>
          <a:p xmlns:a="http://schemas.openxmlformats.org/drawingml/2006/main">
            <a:r>
              <a:t>The user supplied both team identity and QR images. Preserve their original appearance and proportions. Repository: https://github.com/jink-ucla/DanceCraft. The repository is private for now and will require a separate public-release decision.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e72c3466619463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835d93cc0d94ac9"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DANCECRAFT_MASTER">
    <p:bg>
      <p:bgPr>
        <a:solidFill xmlns:a="http://schemas.openxmlformats.org/drawingml/2006/main">
          <a:srgbClr val="071126"/>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1CA84FD-2804-4779-B107-BF1CC059F7F9}"/>
              </a:ext>
            </a:extLst>
          </p:cNvPr>
          <p:cNvSpPr>
            <a:spLocks xmlns:a="http://schemas.openxmlformats.org/drawingml/2006/main" noGrp="1"/>
          </p:cNvSpPr>
          <p:nvPr/>
        </p:nvSpPr>
        <p:spPr>
          <a:xfrm xmlns:a="http://schemas.openxmlformats.org/drawingml/2006/main">
            <a:off x="0" y="0"/>
            <a:ext cx="12191695" cy="73152"/>
          </a:xfrm>
          <a:prstGeom xmlns:a="http://schemas.openxmlformats.org/drawingml/2006/main" prst="rect">
            <a:avLst/>
          </a:prstGeom>
          <a:solidFill xmlns:a="http://schemas.openxmlformats.org/drawingml/2006/main">
            <a:srgbClr val="7C5CFF"/>
          </a:solidFill>
          <a:ln xmlns:a="http://schemas.openxmlformats.org/drawingml/2006/main" w="12700">
            <a:solidFill>
              <a:srgbClr val="7C5CFF">
                <a:alpha val="0"/>
              </a:srgbClr>
            </a:solidFill>
            <a:prstDash val="solid"/>
          </a:ln>
        </p:spPr>
      </p:sp>
      <p:sp>
        <p:nvSpPr>
          <p:cNvPr id="25" name="Slide Number Placeholder 0">
            <a:extLst xmlns:a="http://schemas.openxmlformats.org/drawingml/2006/main">
              <a:ext uri="{FF2B5EF4-FFF2-40B4-BE49-F238E27FC236}">
                <a16:creationId xmlns:a16="http://schemas.microsoft.com/office/drawing/2014/main" id="{45C3DDC0-5EB5-4290-AB9E-05ADC4C3060E}"/>
              </a:ext>
            </a:extLst>
          </p:cNvPr>
          <p:cNvSpPr>
            <a:spLocks xmlns:a="http://schemas.openxmlformats.org/drawingml/2006/main" noGrp="1"/>
          </p:cNvSpPr>
          <p:nvPr>
            <p:ph type="sldNum" idx="4294967295"/>
          </p:nvPr>
        </p:nvSpPr>
        <p:spPr>
          <a:xfrm xmlns:a="http://schemas.openxmlformats.org/drawingml/2006/main">
            <a:off x="11384280" y="6473952"/>
            <a:ext cx="384048" cy="182880"/>
          </a:xfrm>
          <a:prstGeom xmlns:a="http://schemas.openxmlformats.org/drawingml/2006/main" prst="rect">
            <a:avLst/>
          </a:prstGeom>
        </p:spPr>
        <p:txBody>
          <a:bodyPr xmlns:a="http://schemas.openxmlformats.org/drawingml/2006/main" lIns="0" tIns="0" rIns="0" bIns="0"/>
          <a:lstStyle xmlns:a="http://schemas.openxmlformats.org/drawingml/2006/main">
            <a:lvl1pPr>
              <a:buNone/>
              <a:defRPr sz="900">
                <a:solidFill>
                  <a:srgbClr val="7081A8"/>
                </a:solidFill>
                <a:latin typeface="Inter"/>
                <a:ea typeface="Inter"/>
                <a:cs typeface="Inter"/>
              </a:defRPr>
            </a:lvl1pPr>
          </a:lstStyle>
          <a:p xmlns:a="http://schemas.openxmlformats.org/drawingml/2006/main">
            <a:pPr algn="r">
              <a:buNone/>
            </a:pPr>
            <a:fld id="{F7021451-1387-4CA6-816F-3879F97B5CBC}" type="slidenum">
              <a:rPr b="0"/>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5da50b374f34a86" /><Relationship Type="http://schemas.openxmlformats.org/officeDocument/2006/relationships/slideLayout" Target="/ppt/slideLayouts/slideLayout1.xml" Id="R7ab2aec83d344ff5" /><Relationship Type="http://schemas.openxmlformats.org/officeDocument/2006/relationships/slideLayout" Target="/ppt/slideLayouts/slideLayout2.xml" Id="R6a2e3900fb3845bc"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5" name="Slide Number Placeholder 0">
            <a:extLst xmlns:a="http://schemas.openxmlformats.org/drawingml/2006/main">
              <a:ext uri="{FF2B5EF4-FFF2-40B4-BE49-F238E27FC236}">
                <a16:creationId xmlns:a16="http://schemas.microsoft.com/office/drawing/2014/main" id="{F19B1025-7F00-4845-8FEA-5231D7305776}"/>
              </a:ext>
            </a:extLst>
          </p:cNvPr>
          <p:cNvSpPr>
            <a:spLocks xmlns:a="http://schemas.openxmlformats.org/drawingml/2006/main" noGrp="1"/>
          </p:cNvSpPr>
          <p:nvPr>
            <p:ph type="sldNum" idx="4294967295"/>
          </p:nvPr>
        </p:nvSpPr>
        <p:spPr>
          <a:xfrm xmlns:a="http://schemas.openxmlformats.org/drawingml/2006/main">
            <a:off x="11384280" y="6473952"/>
            <a:ext cx="384048" cy="182880"/>
          </a:xfrm>
          <a:prstGeom xmlns:a="http://schemas.openxmlformats.org/drawingml/2006/main" prst="rect">
            <a:avLst/>
          </a:prstGeom>
        </p:spPr>
        <p:txBody>
          <a:bodyPr xmlns:a="http://schemas.openxmlformats.org/drawingml/2006/main" lIns="0" tIns="0" rIns="0" bIns="0"/>
          <a:lstStyle xmlns:a="http://schemas.openxmlformats.org/drawingml/2006/main">
            <a:lvl1pPr>
              <a:buNone/>
              <a:defRPr sz="900">
                <a:solidFill>
                  <a:srgbClr val="7081A8"/>
                </a:solidFill>
                <a:latin typeface="Inter"/>
                <a:ea typeface="Inter"/>
                <a:cs typeface="Inter"/>
              </a:defRPr>
            </a:lvl1pPr>
          </a:lstStyle>
          <a:p xmlns:a="http://schemas.openxmlformats.org/drawingml/2006/main">
            <a:pPr algn="r">
              <a:buNone/>
            </a:pPr>
            <a:fld id="{F7021451-1387-4CA6-816F-3879F97B5CBC}" type="slidenum">
              <a:rPr b="0"/>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ab2aec83d344ff5"/>
    <p:sldLayoutId xmlns:r="http://schemas.openxmlformats.org/officeDocument/2006/relationships" id="2147483650" r:id="R6a2e3900fb3845bc"/>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6ed24c82e7a4b76" /><Relationship Type="http://schemas.openxmlformats.org/officeDocument/2006/relationships/image" Target="/ppt/media/image.png" Id="R0017627728714f36" /><Relationship Type="http://schemas.openxmlformats.org/officeDocument/2006/relationships/notesSlide" Target="/ppt/notesSlides/notesSlide1.xml" Id="R4ee160469b924e0e"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f42e679d20a8447f" /><Relationship Type="http://schemas.openxmlformats.org/officeDocument/2006/relationships/image" Target="/ppt/media/image2.png" Id="Rb210b3f013fb4d55" /><Relationship Type="http://schemas.openxmlformats.org/officeDocument/2006/relationships/image" Target="/ppt/media/image3.png" Id="Rcf7eff46b493475f" /><Relationship Type="http://schemas.openxmlformats.org/officeDocument/2006/relationships/notesSlide" Target="/ppt/notesSlides/notesSlide2.xml" Id="R3e6b45e14a1d4788"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849dc578af32401c" /><Relationship Type="http://schemas.openxmlformats.org/officeDocument/2006/relationships/image" Target="/ppt/media/image4.png" Id="Rf7b823922a3e4429" /><Relationship Type="http://schemas.openxmlformats.org/officeDocument/2006/relationships/image" Target="/ppt/media/image5.png" Id="Rd227ed3213b14240" /><Relationship Type="http://schemas.openxmlformats.org/officeDocument/2006/relationships/notesSlide" Target="/ppt/notesSlides/notesSlide3.xml" Id="R8c4860217ba54f41"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d06811ff58214308" /><Relationship Type="http://schemas.openxmlformats.org/officeDocument/2006/relationships/image" Target="/ppt/media/image2.png" Id="R52d01b3fd8324062" /><Relationship Type="http://schemas.openxmlformats.org/officeDocument/2006/relationships/image" Target="/ppt/media/image3.png" Id="R51f05aa0ce394212" /><Relationship Type="http://schemas.openxmlformats.org/officeDocument/2006/relationships/image" Target="/ppt/media/image4.png" Id="R8e2cac133e344f1a" /><Relationship Type="http://schemas.openxmlformats.org/officeDocument/2006/relationships/image" Target="/ppt/media/image6.png" Id="R75f749c7829f4ffc" /><Relationship Type="http://schemas.openxmlformats.org/officeDocument/2006/relationships/notesSlide" Target="/ppt/notesSlides/notesSlide4.xml" Id="R805c989c3e054e9c"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a68338a5317e45c7" /><Relationship Type="http://schemas.openxmlformats.org/officeDocument/2006/relationships/image" Target="/ppt/media/image7.png" Id="R516d2a6830b04b56" /><Relationship Type="http://schemas.openxmlformats.org/officeDocument/2006/relationships/notesSlide" Target="/ppt/notesSlides/notesSlide5.xml" Id="R9268f27849ab418a"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6119d036d55e4195" /><Relationship Type="http://schemas.openxmlformats.org/officeDocument/2006/relationships/image" Target="/ppt/media/image.jpeg" Id="Re7644bf574d54d6d" /><Relationship Type="http://schemas.openxmlformats.org/officeDocument/2006/relationships/image" Target="/ppt/media/image2.jpeg" Id="Rabb845323ee84a1a" /><Relationship Type="http://schemas.openxmlformats.org/officeDocument/2006/relationships/notesSlide" Target="/ppt/notesSlides/notesSlide6.xml" Id="R6eb783774c944edd" /></Relationships>
</file>

<file path=ppt/slides/slide1.xml><?xml version="1.0" encoding="utf-8"?>
<p:sld xmlns:p="http://schemas.openxmlformats.org/presentationml/2006/main">
  <p:cSld>
    <p:bg>
      <p:bgPr>
        <a:solidFill xmlns:a="http://schemas.openxmlformats.org/drawingml/2006/main">
          <a:srgbClr val="071126"/>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33E0BD0-3CED-4D16-8C73-9701B4AAC446}"/>
              </a:ext>
            </a:extLst>
          </p:cNvPr>
          <p:cNvSpPr>
            <a:spLocks xmlns:a="http://schemas.openxmlformats.org/drawingml/2006/main" noGrp="1"/>
          </p:cNvSpPr>
          <p:nvPr/>
        </p:nvSpPr>
        <p:spPr>
          <a:xfrm xmlns:a="http://schemas.openxmlformats.org/drawingml/2006/main">
            <a:off x="0" y="0"/>
            <a:ext cx="12191695" cy="73152"/>
          </a:xfrm>
          <a:prstGeom xmlns:a="http://schemas.openxmlformats.org/drawingml/2006/main" prst="rect">
            <a:avLst/>
          </a:prstGeom>
          <a:solidFill xmlns:a="http://schemas.openxmlformats.org/drawingml/2006/main">
            <a:srgbClr val="8C6CFF"/>
          </a:solidFill>
          <a:ln xmlns:a="http://schemas.openxmlformats.org/drawingml/2006/main" w="12700">
            <a:solidFill>
              <a:srgbClr val="8C6CFF">
                <a:alpha val="0"/>
              </a:srgbClr>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Text 3">
            <a:extLst xmlns:a="http://schemas.openxmlformats.org/drawingml/2006/main">
              <a:ext uri="{FF2B5EF4-FFF2-40B4-BE49-F238E27FC236}">
                <a16:creationId xmlns:a16="http://schemas.microsoft.com/office/drawing/2014/main" id="{5EDE8771-EAE0-420A-A23C-4F220478EE88}"/>
              </a:ext>
            </a:extLst>
          </p:cNvPr>
          <p:cNvSpPr>
            <a:spLocks xmlns:a="http://schemas.openxmlformats.org/drawingml/2006/main" noGrp="1"/>
          </p:cNvSpPr>
          <p:nvPr/>
        </p:nvSpPr>
        <p:spPr>
          <a:xfrm xmlns:a="http://schemas.openxmlformats.org/drawingml/2006/main">
            <a:off x="658368" y="1078992"/>
            <a:ext cx="384048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4200" b="1">
                <a:solidFill>
                  <a:srgbClr val="F5F7FF"/>
                </a:solidFill>
                <a:latin typeface="Inter Display"/>
                <a:ea typeface="Inter Display"/>
                <a:cs typeface="Inter Display"/>
              </a:defRPr>
            </a:pPr>
            <a:r>
              <a:rPr sz="4200" b="1">
                <a:solidFill>
                  <a:srgbClr val="F5F7FF"/>
                </a:solidFill>
                <a:latin typeface="Inter Display"/>
                <a:ea typeface="Inter Display"/>
                <a:cs typeface="Inter Display"/>
              </a:rPr>
              <a:t>DanceCraft</a:t>
            </a:r>
            <a:endParaRPr sz="4200"/>
          </a:p>
        </p:txBody>
      </p:sp>
      <p:sp>
        <p:nvSpPr>
          <p:cNvPr id="6" name="Text 4">
            <a:extLst xmlns:a="http://schemas.openxmlformats.org/drawingml/2006/main">
              <a:ext uri="{FF2B5EF4-FFF2-40B4-BE49-F238E27FC236}">
                <a16:creationId xmlns:a16="http://schemas.microsoft.com/office/drawing/2014/main" id="{71029927-7327-41E7-9912-26721BF99AE4}"/>
              </a:ext>
            </a:extLst>
          </p:cNvPr>
          <p:cNvSpPr>
            <a:spLocks xmlns:a="http://schemas.openxmlformats.org/drawingml/2006/main" noGrp="1"/>
          </p:cNvSpPr>
          <p:nvPr/>
        </p:nvSpPr>
        <p:spPr>
          <a:xfrm xmlns:a="http://schemas.openxmlformats.org/drawingml/2006/main">
            <a:off x="658368" y="1645920"/>
            <a:ext cx="3767328"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400" b="1">
                <a:solidFill>
                  <a:srgbClr val="F7F9FF"/>
                </a:solidFill>
                <a:latin typeface="Inter Display"/>
                <a:ea typeface="Inter Display"/>
                <a:cs typeface="Inter Display"/>
              </a:rPr>
              <a:t>AI Motion </a:t>
            </a:r>
            <a:r>
              <a:rPr sz="3400" b="1">
                <a:solidFill>
                  <a:srgbClr val="F15CF6"/>
                </a:solidFill>
                <a:latin typeface="Inter Display"/>
                <a:ea typeface="Inter Display"/>
                <a:cs typeface="Inter Display"/>
              </a:rPr>
              <a:t>Arena</a:t>
            </a:r>
            <a:endParaRPr sz="3400"/>
          </a:p>
        </p:txBody>
      </p:sp>
      <p:sp>
        <p:nvSpPr>
          <p:cNvPr id="7" name="Text 5">
            <a:extLst xmlns:a="http://schemas.openxmlformats.org/drawingml/2006/main">
              <a:ext uri="{FF2B5EF4-FFF2-40B4-BE49-F238E27FC236}">
                <a16:creationId xmlns:a16="http://schemas.microsoft.com/office/drawing/2014/main" id="{3153389A-1FC5-4BCE-B4CA-BB7D8FAA8779}"/>
              </a:ext>
            </a:extLst>
          </p:cNvPr>
          <p:cNvSpPr>
            <a:spLocks xmlns:a="http://schemas.openxmlformats.org/drawingml/2006/main" noGrp="1"/>
          </p:cNvSpPr>
          <p:nvPr/>
        </p:nvSpPr>
        <p:spPr>
          <a:xfrm xmlns:a="http://schemas.openxmlformats.org/drawingml/2006/main">
            <a:off x="676656" y="2487168"/>
            <a:ext cx="36118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1800">
                <a:solidFill>
                  <a:srgbClr val="ACB8D0"/>
                </a:solidFill>
                <a:latin typeface="Inter"/>
                <a:ea typeface="Inter"/>
                <a:cs typeface="Inter"/>
              </a:defRPr>
            </a:defPPr>
          </a:lstStyle>
          <a:p xmlns:a="http://schemas.openxmlformats.org/drawingml/2006/main">
            <a:pPr marL="0" indent="0">
              <a:buNone/>
              <a:defRPr sz="1800">
                <a:solidFill>
                  <a:srgbClr val="ACB8D0"/>
                </a:solidFill>
                <a:latin typeface="Inter"/>
                <a:ea typeface="Inter"/>
                <a:cs typeface="Inter"/>
              </a:defRPr>
            </a:pPr>
            <a:r>
              <a:rPr sz="1800">
                <a:solidFill>
                  <a:srgbClr val="ACB8D0"/>
                </a:solidFill>
                <a:latin typeface="Inter"/>
                <a:ea typeface="Inter"/>
                <a:cs typeface="Inter"/>
              </a:rPr>
              <a:t>Follow a short dance, get a Claude practice plan, then return to beat the score.</a:t>
            </a:r>
            <a:endParaRPr sz="1800"/>
          </a:p>
        </p:txBody>
      </p:sp>
      <p:sp>
        <p:nvSpPr>
          <p:cNvPr id="8" name="Shape 6">
            <a:extLst xmlns:a="http://schemas.openxmlformats.org/drawingml/2006/main">
              <a:ext uri="{FF2B5EF4-FFF2-40B4-BE49-F238E27FC236}">
                <a16:creationId xmlns:a16="http://schemas.microsoft.com/office/drawing/2014/main" id="{11F15E83-45BB-49E0-9341-72B285A70171}"/>
              </a:ext>
            </a:extLst>
          </p:cNvPr>
          <p:cNvSpPr>
            <a:spLocks xmlns:a="http://schemas.openxmlformats.org/drawingml/2006/main" noGrp="1"/>
          </p:cNvSpPr>
          <p:nvPr/>
        </p:nvSpPr>
        <p:spPr>
          <a:xfrm xmlns:a="http://schemas.openxmlformats.org/drawingml/2006/main">
            <a:off x="676656" y="3886200"/>
            <a:ext cx="3429000" cy="0"/>
          </a:xfrm>
          <a:prstGeom xmlns:a="http://schemas.openxmlformats.org/drawingml/2006/main" prst="line">
            <a:avLst/>
          </a:prstGeom>
          <a:noFill xmlns:a="http://schemas.openxmlformats.org/drawingml/2006/main"/>
          <a:ln xmlns:a="http://schemas.openxmlformats.org/drawingml/2006/main" w="15240">
            <a:solidFill>
              <a:srgbClr val="28395F"/>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Text 7">
            <a:extLst xmlns:a="http://schemas.openxmlformats.org/drawingml/2006/main">
              <a:ext uri="{FF2B5EF4-FFF2-40B4-BE49-F238E27FC236}">
                <a16:creationId xmlns:a16="http://schemas.microsoft.com/office/drawing/2014/main" id="{1865FFE6-EEC8-41E7-9078-B83653BBBF8A}"/>
              </a:ext>
            </a:extLst>
          </p:cNvPr>
          <p:cNvSpPr>
            <a:spLocks xmlns:a="http://schemas.openxmlformats.org/drawingml/2006/main" noGrp="1"/>
          </p:cNvSpPr>
          <p:nvPr/>
        </p:nvSpPr>
        <p:spPr>
          <a:xfrm xmlns:a="http://schemas.openxmlformats.org/drawingml/2006/main">
            <a:off x="676656" y="4096512"/>
            <a:ext cx="33832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600" b="1">
                <a:solidFill>
                  <a:srgbClr val="48D7FA"/>
                </a:solidFill>
                <a:latin typeface="Inter"/>
                <a:ea typeface="Inter"/>
                <a:cs typeface="Inter"/>
              </a:defRPr>
            </a:pPr>
            <a:r>
              <a:rPr sz="1600" b="1">
                <a:solidFill>
                  <a:srgbClr val="48D7FA"/>
                </a:solidFill>
                <a:latin typeface="Inter"/>
                <a:ea typeface="Inter"/>
                <a:cs typeface="Inter"/>
              </a:rPr>
              <a:t>Dance. Practice. Rematch.</a:t>
            </a:r>
            <a:endParaRPr sz="1600"/>
          </a:p>
        </p:txBody>
      </p:sp>
      <p:sp>
        <p:nvSpPr>
          <p:cNvPr id="10" name="Text 8">
            <a:extLst xmlns:a="http://schemas.openxmlformats.org/drawingml/2006/main">
              <a:ext uri="{FF2B5EF4-FFF2-40B4-BE49-F238E27FC236}">
                <a16:creationId xmlns:a16="http://schemas.microsoft.com/office/drawing/2014/main" id="{C407E990-8C0F-4578-9F06-B100B676622A}"/>
              </a:ext>
            </a:extLst>
          </p:cNvPr>
          <p:cNvSpPr>
            <a:spLocks xmlns:a="http://schemas.openxmlformats.org/drawingml/2006/main" noGrp="1"/>
          </p:cNvSpPr>
          <p:nvPr/>
        </p:nvSpPr>
        <p:spPr>
          <a:xfrm xmlns:a="http://schemas.openxmlformats.org/drawingml/2006/main">
            <a:off x="676656" y="6144768"/>
            <a:ext cx="40233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900">
                <a:solidFill>
                  <a:srgbClr val="7588A9"/>
                </a:solidFill>
                <a:latin typeface="Inter"/>
                <a:ea typeface="Inter"/>
                <a:cs typeface="Inter"/>
              </a:defRPr>
            </a:defPPr>
          </a:lstStyle>
          <a:p xmlns:a="http://schemas.openxmlformats.org/drawingml/2006/main">
            <a:pPr marL="0" indent="0">
              <a:buNone/>
              <a:defRPr sz="900">
                <a:solidFill>
                  <a:srgbClr val="7588A9"/>
                </a:solidFill>
                <a:latin typeface="Inter"/>
                <a:ea typeface="Inter"/>
                <a:cs typeface="Inter"/>
              </a:defRPr>
            </a:pPr>
            <a:r>
              <a:rPr sz="900">
                <a:solidFill>
                  <a:srgbClr val="7588A9"/>
                </a:solidFill>
                <a:latin typeface="Inter"/>
                <a:ea typeface="Inter"/>
                <a:cs typeface="Inter"/>
              </a:rPr>
              <a:t>Anthropic Creator Summit  /  Wasil and Jin</a:t>
            </a:r>
            <a:endParaRPr sz="1050"/>
          </a:p>
        </p:txBody>
      </p:sp>
      <p:sp>
        <p:nvSpPr>
          <p:cNvPr id="11" name="Shape 9">
            <a:extLst xmlns:a="http://schemas.openxmlformats.org/drawingml/2006/main">
              <a:ext uri="{FF2B5EF4-FFF2-40B4-BE49-F238E27FC236}">
                <a16:creationId xmlns:a16="http://schemas.microsoft.com/office/drawing/2014/main" id="{9B92D2A6-2F3B-48F6-91D7-0A2FA95BC132}"/>
              </a:ext>
            </a:extLst>
          </p:cNvPr>
          <p:cNvSpPr>
            <a:spLocks xmlns:a="http://schemas.openxmlformats.org/drawingml/2006/main" noGrp="1"/>
          </p:cNvSpPr>
          <p:nvPr/>
        </p:nvSpPr>
        <p:spPr>
          <a:xfrm xmlns:a="http://schemas.openxmlformats.org/drawingml/2006/main">
            <a:off x="4713732" y="918972"/>
            <a:ext cx="6986016" cy="3767328"/>
          </a:xfrm>
          <a:prstGeom xmlns:a="http://schemas.openxmlformats.org/drawingml/2006/main" prst="roundRect">
            <a:avLst>
              <a:gd name="adj" fmla="val 1942"/>
            </a:avLst>
          </a:prstGeom>
          <a:solidFill xmlns:a="http://schemas.openxmlformats.org/drawingml/2006/main">
            <a:srgbClr val="111F3E"/>
          </a:solidFill>
          <a:ln xmlns:a="http://schemas.openxmlformats.org/drawingml/2006/main" w="12700">
            <a:solidFill>
              <a:srgbClr val="28395F"/>
            </a:solidFill>
            <a:prstDash val="solid"/>
          </a:ln>
          <a:effectLst xmlns:a="http://schemas.openxmlformats.org/drawingml/2006/main">
            <a:outerShdw blurRad="38100" dist="15240" dir="2700000" algn="bl" rotWithShape="0">
              <a:srgbClr val="000000">
                <a:alpha val="28000"/>
              </a:srgbClr>
            </a:outerShdw>
          </a:effectLst>
        </p:spPr>
        <p:txBody>
          <a:bodyPr xmlns:a="http://schemas.openxmlformats.org/drawingml/2006/main"/>
          <a:lstStyle xmlns:a="http://schemas.openxmlformats.org/drawingml/2006/main"/>
          <a:p xmlns:a="http://schemas.openxmlformats.org/drawingml/2006/main">
            <a:endParaRPr/>
          </a:p>
        </p:txBody>
      </p:sp>
      <p:pic>
        <p:nvPicPr>
          <p:cNvPr id="26" name="Image 0">
            <a:extLst xmlns:a="http://schemas.openxmlformats.org/drawingml/2006/main">
              <a:ext uri="{FF2B5EF4-FFF2-40B4-BE49-F238E27FC236}">
                <a16:creationId xmlns:a16="http://schemas.microsoft.com/office/drawing/2014/main" id="{903D2873-C20A-49D0-87E2-AEF751DE5FB7}"/>
              </a:ext>
            </a:extLst>
          </p:cNvPr>
          <p:cNvPicPr>
            <a:picLocks xmlns:a="http://schemas.openxmlformats.org/drawingml/2006/main" noChangeAspect="1"/>
          </p:cNvPicPr>
          <p:nvPr/>
        </p:nvPicPr>
        <p:blipFill>
          <a:blip xmlns:r="http://schemas.openxmlformats.org/officeDocument/2006/relationships" xmlns:a="http://schemas.openxmlformats.org/drawingml/2006/main" r:embed="R0017627728714f36"/>
          <a:stretch xmlns:a="http://schemas.openxmlformats.org/drawingml/2006/main"/>
        </p:blipFill>
        <p:spPr>
          <a:xfrm xmlns:a="http://schemas.openxmlformats.org/drawingml/2006/main">
            <a:off x="4754880" y="965259"/>
            <a:ext cx="6903720" cy="3674755"/>
          </a:xfrm>
          <a:prstGeom xmlns:a="http://schemas.openxmlformats.org/drawingml/2006/main" prst="rect">
            <a:avLst/>
          </a:prstGeom>
        </p:spPr>
      </p:pic>
      <p:sp>
        <p:nvSpPr>
          <p:cNvPr id="13" name="Text 10">
            <a:extLst xmlns:a="http://schemas.openxmlformats.org/drawingml/2006/main">
              <a:ext uri="{FF2B5EF4-FFF2-40B4-BE49-F238E27FC236}">
                <a16:creationId xmlns:a16="http://schemas.microsoft.com/office/drawing/2014/main" id="{D9FE29F5-B150-4CD4-942E-92EB73E810D2}"/>
              </a:ext>
            </a:extLst>
          </p:cNvPr>
          <p:cNvSpPr>
            <a:spLocks xmlns:a="http://schemas.openxmlformats.org/drawingml/2006/main" noGrp="1"/>
          </p:cNvSpPr>
          <p:nvPr/>
        </p:nvSpPr>
        <p:spPr>
          <a:xfrm xmlns:a="http://schemas.openxmlformats.org/drawingml/2006/main">
            <a:off x="6419088" y="5074920"/>
            <a:ext cx="44805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100" b="1">
                <a:solidFill>
                  <a:srgbClr val="F7F9FF"/>
                </a:solidFill>
                <a:latin typeface="Inter Display"/>
                <a:ea typeface="Inter Display"/>
                <a:cs typeface="Inter Display"/>
              </a:rPr>
              <a:t>Move better. Together.</a:t>
            </a:r>
            <a:endParaRPr sz="2100"/>
          </a:p>
        </p:txBody>
      </p:sp>
      <p:sp>
        <p:nvSpPr>
          <p:cNvPr id="14" name="Text 11">
            <a:extLst xmlns:a="http://schemas.openxmlformats.org/drawingml/2006/main">
              <a:ext uri="{FF2B5EF4-FFF2-40B4-BE49-F238E27FC236}">
                <a16:creationId xmlns:a16="http://schemas.microsoft.com/office/drawing/2014/main" id="{962D50A1-A9AF-4F61-8991-78BCF5201CDC}"/>
              </a:ext>
            </a:extLst>
          </p:cNvPr>
          <p:cNvSpPr>
            <a:spLocks xmlns:a="http://schemas.openxmlformats.org/drawingml/2006/main" noGrp="1"/>
          </p:cNvSpPr>
          <p:nvPr/>
        </p:nvSpPr>
        <p:spPr>
          <a:xfrm xmlns:a="http://schemas.openxmlformats.org/drawingml/2006/main">
            <a:off x="5623560" y="5486400"/>
            <a:ext cx="5989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ctr">
              <a:buNone/>
              <a:defRPr sz="1200">
                <a:solidFill>
                  <a:srgbClr val="ACB8D0"/>
                </a:solidFill>
                <a:latin typeface="Inter"/>
                <a:ea typeface="Inter"/>
                <a:cs typeface="Inter"/>
              </a:defRPr>
            </a:pPr>
            <a:r>
              <a:rPr sz="1200">
                <a:solidFill>
                  <a:srgbClr val="ACB8D0"/>
                </a:solidFill>
                <a:latin typeface="Inter"/>
                <a:ea typeface="Inter"/>
                <a:cs typeface="Inter"/>
              </a:rPr>
              <a:t>A dance challenge with a coach that shapes your next attempt.</a:t>
            </a:r>
            <a:endParaRPr sz="1350"/>
          </a:p>
        </p:txBody>
      </p:sp>
      <p:sp>
        <p:nvSpPr>
          <p:cNvPr id="27" name="Concept artwork caption">
            <a:extLst xmlns:a="http://schemas.openxmlformats.org/drawingml/2006/main">
              <a:ext uri="{FF2B5EF4-FFF2-40B4-BE49-F238E27FC236}">
                <a16:creationId xmlns:a16="http://schemas.microsoft.com/office/drawing/2014/main" id="{21541157-ECBD-48FE-B47D-5287B2977B6D}"/>
              </a:ext>
            </a:extLst>
          </p:cNvPr>
          <p:cNvSpPr>
            <a:spLocks xmlns:a="http://schemas.openxmlformats.org/drawingml/2006/main" noGrp="1"/>
          </p:cNvSpPr>
          <p:nvPr/>
        </p:nvSpPr>
        <p:spPr>
          <a:xfrm xmlns:a="http://schemas.openxmlformats.org/drawingml/2006/main">
            <a:off x="4754880" y="4754880"/>
            <a:ext cx="6903720" cy="182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lgn="r">
              <a:defRPr sz="900">
                <a:solidFill>
                  <a:srgbClr val="ACB8D0"/>
                </a:solidFill>
                <a:latin typeface="Inter"/>
                <a:ea typeface="Inter"/>
                <a:cs typeface="Inter"/>
              </a:defRPr>
            </a:defPPr>
          </a:lstStyle>
          <a:p xmlns:a="http://schemas.openxmlformats.org/drawingml/2006/main">
            <a:pPr algn="r">
              <a:defRPr sz="900">
                <a:solidFill>
                  <a:srgbClr val="ACB8D0"/>
                </a:solidFill>
                <a:latin typeface="Inter"/>
                <a:ea typeface="Inter"/>
                <a:cs typeface="Inter"/>
              </a:defRPr>
            </a:pPr>
            <a:r>
              <a:rPr sz="900">
                <a:solidFill>
                  <a:srgbClr val="ACB8D0"/>
                </a:solidFill>
                <a:latin typeface="Inter"/>
                <a:ea typeface="Inter"/>
                <a:cs typeface="Inter"/>
              </a:rPr>
              <a:t>Concept illustration</a:t>
            </a:r>
          </a:p>
        </p:txBody>
      </p:sp>
    </p:spTree>
    <p:extLst>
      <p:ext uri="{BB962C8B-B14F-4D97-AF65-F5344CB8AC3E}">
        <p14:creationId xmlns:p14="http://schemas.microsoft.com/office/powerpoint/2010/main" val="188808544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177420A-ACDC-479F-B817-C3C292924191}"/>
              </a:ext>
            </a:extLst>
          </p:cNvPr>
          <p:cNvSpPr>
            <a:spLocks xmlns:a="http://schemas.openxmlformats.org/drawingml/2006/main" noGrp="1"/>
          </p:cNvSpPr>
          <p:nvPr/>
        </p:nvSpPr>
        <p:spPr>
          <a:xfrm xmlns:a="http://schemas.openxmlformats.org/drawingml/2006/main">
            <a:off x="585216" y="621792"/>
            <a:ext cx="1101852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2700" b="1">
                <a:solidFill>
                  <a:srgbClr val="F5F7FF"/>
                </a:solidFill>
                <a:latin typeface="Inter Display"/>
                <a:ea typeface="Inter Display"/>
                <a:cs typeface="Inter Display"/>
              </a:defRPr>
            </a:pPr>
            <a:r>
              <a:rPr sz="2700" b="1">
                <a:solidFill>
                  <a:srgbClr val="F5F7FF"/>
                </a:solidFill>
                <a:latin typeface="Inter Display"/>
                <a:ea typeface="Inter Display"/>
                <a:cs typeface="Inter Display"/>
              </a:rPr>
              <a:t>A dance challenge the room can follow</a:t>
            </a:r>
            <a:endParaRPr sz="3100"/>
          </a:p>
        </p:txBody>
      </p:sp>
      <p:sp>
        <p:nvSpPr>
          <p:cNvPr id="3" name="Text 1">
            <a:extLst xmlns:a="http://schemas.openxmlformats.org/drawingml/2006/main">
              <a:ext uri="{FF2B5EF4-FFF2-40B4-BE49-F238E27FC236}">
                <a16:creationId xmlns:a16="http://schemas.microsoft.com/office/drawing/2014/main" id="{576E67CB-002C-44F5-B3F5-F80DBC93BB87}"/>
              </a:ext>
            </a:extLst>
          </p:cNvPr>
          <p:cNvSpPr>
            <a:spLocks xmlns:a="http://schemas.openxmlformats.org/drawingml/2006/main" noGrp="1"/>
          </p:cNvSpPr>
          <p:nvPr/>
        </p:nvSpPr>
        <p:spPr>
          <a:xfrm xmlns:a="http://schemas.openxmlformats.org/drawingml/2006/main">
            <a:off x="603504" y="1197864"/>
            <a:ext cx="106070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400">
                <a:solidFill>
                  <a:srgbClr val="ACB8D0"/>
                </a:solidFill>
                <a:latin typeface="Inter"/>
                <a:ea typeface="Inter"/>
                <a:cs typeface="Inter"/>
              </a:defRPr>
            </a:pPr>
            <a:r>
              <a:rPr sz="1400">
                <a:solidFill>
                  <a:srgbClr val="ACB8D0"/>
                </a:solidFill>
                <a:latin typeface="Inter"/>
                <a:ea typeface="Inter"/>
                <a:cs typeface="Inter"/>
              </a:rPr>
              <a:t>One short routine becomes a score to beat and a clear next step.</a:t>
            </a:r>
            <a:endParaRPr sz="1400"/>
          </a:p>
        </p:txBody>
      </p:sp>
      <p:sp>
        <p:nvSpPr>
          <p:cNvPr id="4" name="Text 2">
            <a:extLst xmlns:a="http://schemas.openxmlformats.org/drawingml/2006/main">
              <a:ext uri="{FF2B5EF4-FFF2-40B4-BE49-F238E27FC236}">
                <a16:creationId xmlns:a16="http://schemas.microsoft.com/office/drawing/2014/main" id="{6BF5395F-B661-4A4B-9D2A-84878E052FDB}"/>
              </a:ext>
            </a:extLst>
          </p:cNvPr>
          <p:cNvSpPr>
            <a:spLocks xmlns:a="http://schemas.openxmlformats.org/drawingml/2006/main" noGrp="1"/>
          </p:cNvSpPr>
          <p:nvPr/>
        </p:nvSpPr>
        <p:spPr>
          <a:xfrm xmlns:a="http://schemas.openxmlformats.org/drawingml/2006/main">
            <a:off x="621792" y="1572768"/>
            <a:ext cx="4069080" cy="98755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2100" b="1">
                <a:solidFill>
                  <a:srgbClr val="F5F7FF"/>
                </a:solidFill>
                <a:latin typeface="Inter"/>
                <a:ea typeface="Inter"/>
                <a:cs typeface="Inter"/>
              </a:defRPr>
            </a:pPr>
            <a:r>
              <a:rPr sz="2100" b="1">
                <a:solidFill>
                  <a:srgbClr val="F5F7FF"/>
                </a:solidFill>
                <a:latin typeface="Inter"/>
                <a:ea typeface="Inter"/>
                <a:cs typeface="Inter"/>
              </a:rPr>
              <a:t>One routine.</a:t>
            </a:r>
            <a:endParaRPr sz="2400"/>
          </a:p>
          <a:p xmlns:a="http://schemas.openxmlformats.org/drawingml/2006/main">
            <a:pPr marL="0" indent="0">
              <a:buNone/>
              <a:defRPr sz="2100" b="1">
                <a:solidFill>
                  <a:srgbClr val="F5F7FF"/>
                </a:solidFill>
                <a:latin typeface="Inter"/>
                <a:ea typeface="Inter"/>
                <a:cs typeface="Inter"/>
              </a:defRPr>
            </a:pPr>
            <a:r>
              <a:rPr sz="2100" b="1">
                <a:solidFill>
                  <a:srgbClr val="F5F7FF"/>
                </a:solidFill>
                <a:latin typeface="Inter"/>
                <a:ea typeface="Inter"/>
                <a:cs typeface="Inter"/>
              </a:rPr>
              <a:t>A score for every challenger.</a:t>
            </a:r>
            <a:endParaRPr sz="2400"/>
          </a:p>
        </p:txBody>
      </p:sp>
      <p:sp>
        <p:nvSpPr>
          <p:cNvPr id="5" name="Shape 3">
            <a:extLst xmlns:a="http://schemas.openxmlformats.org/drawingml/2006/main">
              <a:ext uri="{FF2B5EF4-FFF2-40B4-BE49-F238E27FC236}">
                <a16:creationId xmlns:a16="http://schemas.microsoft.com/office/drawing/2014/main" id="{D0140B08-C6B3-44BB-92E2-0B5DD5BE891D}"/>
              </a:ext>
            </a:extLst>
          </p:cNvPr>
          <p:cNvSpPr>
            <a:spLocks xmlns:a="http://schemas.openxmlformats.org/drawingml/2006/main" noGrp="1"/>
          </p:cNvSpPr>
          <p:nvPr/>
        </p:nvSpPr>
        <p:spPr>
          <a:xfrm xmlns:a="http://schemas.openxmlformats.org/drawingml/2006/main">
            <a:off x="658368" y="2770632"/>
            <a:ext cx="384048" cy="384048"/>
          </a:xfrm>
          <a:prstGeom xmlns:a="http://schemas.openxmlformats.org/drawingml/2006/main" prst="ellipse">
            <a:avLst/>
          </a:prstGeom>
          <a:solidFill xmlns:a="http://schemas.openxmlformats.org/drawingml/2006/main">
            <a:srgbClr val="8C6CFF"/>
          </a:solidFill>
          <a:ln xmlns:a="http://schemas.openxmlformats.org/drawingml/2006/main" w="12700">
            <a:solidFill>
              <a:srgbClr val="8C6CFF">
                <a:alpha val="0"/>
              </a:srgbClr>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7F35A4A2-79F4-44CC-928E-9073F2DD5FC6}"/>
              </a:ext>
            </a:extLst>
          </p:cNvPr>
          <p:cNvSpPr>
            <a:spLocks xmlns:a="http://schemas.openxmlformats.org/drawingml/2006/main" noGrp="1"/>
          </p:cNvSpPr>
          <p:nvPr/>
        </p:nvSpPr>
        <p:spPr>
          <a:xfrm xmlns:a="http://schemas.openxmlformats.org/drawingml/2006/main">
            <a:off x="658368" y="2784348"/>
            <a:ext cx="38404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Inter"/>
                <a:ea typeface="Inter"/>
                <a:cs typeface="Inter"/>
              </a:rPr>
              <a:t>1</a:t>
            </a:r>
            <a:endParaRPr sz="1300"/>
          </a:p>
        </p:txBody>
      </p:sp>
      <p:sp>
        <p:nvSpPr>
          <p:cNvPr id="7" name="Text 5">
            <a:extLst xmlns:a="http://schemas.openxmlformats.org/drawingml/2006/main">
              <a:ext uri="{FF2B5EF4-FFF2-40B4-BE49-F238E27FC236}">
                <a16:creationId xmlns:a16="http://schemas.microsoft.com/office/drawing/2014/main" id="{CF922367-3270-461A-A337-820313863EAA}"/>
              </a:ext>
            </a:extLst>
          </p:cNvPr>
          <p:cNvSpPr>
            <a:spLocks xmlns:a="http://schemas.openxmlformats.org/drawingml/2006/main" noGrp="1"/>
          </p:cNvSpPr>
          <p:nvPr/>
        </p:nvSpPr>
        <p:spPr>
          <a:xfrm xmlns:a="http://schemas.openxmlformats.org/drawingml/2006/main">
            <a:off x="1188720" y="2761488"/>
            <a:ext cx="3657600" cy="2468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F7F9FF"/>
                </a:solidFill>
                <a:latin typeface="Inter"/>
                <a:ea typeface="Inter"/>
                <a:cs typeface="Inter"/>
              </a:rPr>
              <a:t>Watch</a:t>
            </a:r>
            <a:endParaRPr sz="1600"/>
          </a:p>
        </p:txBody>
      </p:sp>
      <p:sp>
        <p:nvSpPr>
          <p:cNvPr id="8" name="Text 6">
            <a:extLst xmlns:a="http://schemas.openxmlformats.org/drawingml/2006/main">
              <a:ext uri="{FF2B5EF4-FFF2-40B4-BE49-F238E27FC236}">
                <a16:creationId xmlns:a16="http://schemas.microsoft.com/office/drawing/2014/main" id="{5F759C18-2A25-48FD-8626-AA9F7F4F180D}"/>
              </a:ext>
            </a:extLst>
          </p:cNvPr>
          <p:cNvSpPr>
            <a:spLocks xmlns:a="http://schemas.openxmlformats.org/drawingml/2006/main" noGrp="1"/>
          </p:cNvSpPr>
          <p:nvPr/>
        </p:nvSpPr>
        <p:spPr>
          <a:xfrm xmlns:a="http://schemas.openxmlformats.org/drawingml/2006/main">
            <a:off x="1188720" y="3017520"/>
            <a:ext cx="384048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400">
                <a:solidFill>
                  <a:srgbClr val="ACB8D0"/>
                </a:solidFill>
                <a:latin typeface="Inter"/>
                <a:ea typeface="Inter"/>
                <a:cs typeface="Inter"/>
              </a:defRPr>
            </a:pPr>
            <a:r>
              <a:rPr sz="1400">
                <a:solidFill>
                  <a:srgbClr val="ACB8D0"/>
                </a:solidFill>
                <a:latin typeface="Inter"/>
                <a:ea typeface="Inter"/>
                <a:cs typeface="Inter"/>
              </a:rPr>
              <a:t>Choose a routine and its Mirror setting.</a:t>
            </a:r>
            <a:endParaRPr sz="1250"/>
          </a:p>
        </p:txBody>
      </p:sp>
      <p:sp>
        <p:nvSpPr>
          <p:cNvPr id="9" name="Shape 7">
            <a:extLst xmlns:a="http://schemas.openxmlformats.org/drawingml/2006/main">
              <a:ext uri="{FF2B5EF4-FFF2-40B4-BE49-F238E27FC236}">
                <a16:creationId xmlns:a16="http://schemas.microsoft.com/office/drawing/2014/main" id="{D5D47293-DC94-44DF-9FC5-86465DDC7F86}"/>
              </a:ext>
            </a:extLst>
          </p:cNvPr>
          <p:cNvSpPr>
            <a:spLocks xmlns:a="http://schemas.openxmlformats.org/drawingml/2006/main" noGrp="1"/>
          </p:cNvSpPr>
          <p:nvPr/>
        </p:nvSpPr>
        <p:spPr>
          <a:xfrm xmlns:a="http://schemas.openxmlformats.org/drawingml/2006/main">
            <a:off x="658368" y="3822192"/>
            <a:ext cx="384048" cy="384048"/>
          </a:xfrm>
          <a:prstGeom xmlns:a="http://schemas.openxmlformats.org/drawingml/2006/main" prst="ellipse">
            <a:avLst/>
          </a:prstGeom>
          <a:solidFill xmlns:a="http://schemas.openxmlformats.org/drawingml/2006/main">
            <a:srgbClr val="4E7DFF"/>
          </a:solidFill>
          <a:ln xmlns:a="http://schemas.openxmlformats.org/drawingml/2006/main" w="12700">
            <a:solidFill>
              <a:srgbClr val="4E7DFF">
                <a:alpha val="0"/>
              </a:srgbClr>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Text 8">
            <a:extLst xmlns:a="http://schemas.openxmlformats.org/drawingml/2006/main">
              <a:ext uri="{FF2B5EF4-FFF2-40B4-BE49-F238E27FC236}">
                <a16:creationId xmlns:a16="http://schemas.microsoft.com/office/drawing/2014/main" id="{3F868BC6-510B-45DC-87C9-101CCC479096}"/>
              </a:ext>
            </a:extLst>
          </p:cNvPr>
          <p:cNvSpPr>
            <a:spLocks xmlns:a="http://schemas.openxmlformats.org/drawingml/2006/main" noGrp="1"/>
          </p:cNvSpPr>
          <p:nvPr/>
        </p:nvSpPr>
        <p:spPr>
          <a:xfrm xmlns:a="http://schemas.openxmlformats.org/drawingml/2006/main">
            <a:off x="658368" y="3835908"/>
            <a:ext cx="38404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Inter"/>
                <a:ea typeface="Inter"/>
                <a:cs typeface="Inter"/>
              </a:rPr>
              <a:t>2</a:t>
            </a:r>
            <a:endParaRPr sz="1300"/>
          </a:p>
        </p:txBody>
      </p:sp>
      <p:sp>
        <p:nvSpPr>
          <p:cNvPr id="11" name="Text 9">
            <a:extLst xmlns:a="http://schemas.openxmlformats.org/drawingml/2006/main">
              <a:ext uri="{FF2B5EF4-FFF2-40B4-BE49-F238E27FC236}">
                <a16:creationId xmlns:a16="http://schemas.microsoft.com/office/drawing/2014/main" id="{5CED8F64-074F-42DD-9135-1FA09F7ABA29}"/>
              </a:ext>
            </a:extLst>
          </p:cNvPr>
          <p:cNvSpPr>
            <a:spLocks xmlns:a="http://schemas.openxmlformats.org/drawingml/2006/main" noGrp="1"/>
          </p:cNvSpPr>
          <p:nvPr/>
        </p:nvSpPr>
        <p:spPr>
          <a:xfrm xmlns:a="http://schemas.openxmlformats.org/drawingml/2006/main">
            <a:off x="1188720" y="3813048"/>
            <a:ext cx="3657600" cy="2468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F7F9FF"/>
                </a:solidFill>
                <a:latin typeface="Inter"/>
                <a:ea typeface="Inter"/>
                <a:cs typeface="Inter"/>
              </a:rPr>
              <a:t>Move</a:t>
            </a:r>
            <a:endParaRPr sz="1600"/>
          </a:p>
        </p:txBody>
      </p:sp>
      <p:sp>
        <p:nvSpPr>
          <p:cNvPr id="12" name="Text 10">
            <a:extLst xmlns:a="http://schemas.openxmlformats.org/drawingml/2006/main">
              <a:ext uri="{FF2B5EF4-FFF2-40B4-BE49-F238E27FC236}">
                <a16:creationId xmlns:a16="http://schemas.microsoft.com/office/drawing/2014/main" id="{E8A58199-8AC1-4709-B116-AA9E5308785D}"/>
              </a:ext>
            </a:extLst>
          </p:cNvPr>
          <p:cNvSpPr>
            <a:spLocks xmlns:a="http://schemas.openxmlformats.org/drawingml/2006/main" noGrp="1"/>
          </p:cNvSpPr>
          <p:nvPr/>
        </p:nvSpPr>
        <p:spPr>
          <a:xfrm xmlns:a="http://schemas.openxmlformats.org/drawingml/2006/main">
            <a:off x="1188720" y="4069080"/>
            <a:ext cx="384048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400">
                <a:solidFill>
                  <a:srgbClr val="ACB8D0"/>
                </a:solidFill>
                <a:latin typeface="Inter"/>
                <a:ea typeface="Inter"/>
                <a:cs typeface="Inter"/>
              </a:defRPr>
            </a:pPr>
            <a:r>
              <a:rPr sz="1400">
                <a:solidFill>
                  <a:srgbClr val="ACB8D0"/>
                </a:solidFill>
                <a:latin typeface="Inter"/>
                <a:ea typeface="Inter"/>
                <a:cs typeface="Inter"/>
              </a:rPr>
              <a:t>The webcam tracks one dancer against the reference video.</a:t>
            </a:r>
            <a:endParaRPr sz="1250"/>
          </a:p>
        </p:txBody>
      </p:sp>
      <p:sp>
        <p:nvSpPr>
          <p:cNvPr id="13" name="Shape 11">
            <a:extLst xmlns:a="http://schemas.openxmlformats.org/drawingml/2006/main">
              <a:ext uri="{FF2B5EF4-FFF2-40B4-BE49-F238E27FC236}">
                <a16:creationId xmlns:a16="http://schemas.microsoft.com/office/drawing/2014/main" id="{50C532B4-326C-4103-B7F4-9EEFCF50DFC8}"/>
              </a:ext>
            </a:extLst>
          </p:cNvPr>
          <p:cNvSpPr>
            <a:spLocks xmlns:a="http://schemas.openxmlformats.org/drawingml/2006/main" noGrp="1"/>
          </p:cNvSpPr>
          <p:nvPr/>
        </p:nvSpPr>
        <p:spPr>
          <a:xfrm xmlns:a="http://schemas.openxmlformats.org/drawingml/2006/main">
            <a:off x="658368" y="4873752"/>
            <a:ext cx="384048" cy="384048"/>
          </a:xfrm>
          <a:prstGeom xmlns:a="http://schemas.openxmlformats.org/drawingml/2006/main" prst="ellipse">
            <a:avLst/>
          </a:prstGeom>
          <a:solidFill xmlns:a="http://schemas.openxmlformats.org/drawingml/2006/main">
            <a:srgbClr val="4BE3A4"/>
          </a:solidFill>
          <a:ln xmlns:a="http://schemas.openxmlformats.org/drawingml/2006/main" w="12700">
            <a:solidFill>
              <a:srgbClr val="4BE3A4">
                <a:alpha val="0"/>
              </a:srgbClr>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22C6FE17-1995-4F73-AC0A-C8D5878FF6FB}"/>
              </a:ext>
            </a:extLst>
          </p:cNvPr>
          <p:cNvSpPr>
            <a:spLocks xmlns:a="http://schemas.openxmlformats.org/drawingml/2006/main" noGrp="1"/>
          </p:cNvSpPr>
          <p:nvPr/>
        </p:nvSpPr>
        <p:spPr>
          <a:xfrm xmlns:a="http://schemas.openxmlformats.org/drawingml/2006/main">
            <a:off x="658368" y="4887468"/>
            <a:ext cx="38404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Inter"/>
                <a:ea typeface="Inter"/>
                <a:cs typeface="Inter"/>
              </a:rPr>
              <a:t>3</a:t>
            </a:r>
            <a:endParaRPr sz="1300"/>
          </a:p>
        </p:txBody>
      </p:sp>
      <p:sp>
        <p:nvSpPr>
          <p:cNvPr id="15" name="Text 13">
            <a:extLst xmlns:a="http://schemas.openxmlformats.org/drawingml/2006/main">
              <a:ext uri="{FF2B5EF4-FFF2-40B4-BE49-F238E27FC236}">
                <a16:creationId xmlns:a16="http://schemas.microsoft.com/office/drawing/2014/main" id="{A97A2975-A961-40A2-935A-0040B624CBD1}"/>
              </a:ext>
            </a:extLst>
          </p:cNvPr>
          <p:cNvSpPr>
            <a:spLocks xmlns:a="http://schemas.openxmlformats.org/drawingml/2006/main" noGrp="1"/>
          </p:cNvSpPr>
          <p:nvPr/>
        </p:nvSpPr>
        <p:spPr>
          <a:xfrm xmlns:a="http://schemas.openxmlformats.org/drawingml/2006/main">
            <a:off x="1188720" y="4864608"/>
            <a:ext cx="3657600" cy="2468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F7F9FF"/>
                </a:solidFill>
                <a:latin typeface="Inter"/>
                <a:ea typeface="Inter"/>
                <a:cs typeface="Inter"/>
              </a:rPr>
              <a:t>Review</a:t>
            </a:r>
            <a:endParaRPr sz="1600"/>
          </a:p>
        </p:txBody>
      </p:sp>
      <p:sp>
        <p:nvSpPr>
          <p:cNvPr id="16" name="Text 14">
            <a:extLst xmlns:a="http://schemas.openxmlformats.org/drawingml/2006/main">
              <a:ext uri="{FF2B5EF4-FFF2-40B4-BE49-F238E27FC236}">
                <a16:creationId xmlns:a16="http://schemas.microsoft.com/office/drawing/2014/main" id="{8C4C0DB1-FB52-4B83-AA0F-F2E26737A54C}"/>
              </a:ext>
            </a:extLst>
          </p:cNvPr>
          <p:cNvSpPr>
            <a:spLocks xmlns:a="http://schemas.openxmlformats.org/drawingml/2006/main" noGrp="1"/>
          </p:cNvSpPr>
          <p:nvPr/>
        </p:nvSpPr>
        <p:spPr>
          <a:xfrm xmlns:a="http://schemas.openxmlformats.org/drawingml/2006/main">
            <a:off x="1188720" y="5120640"/>
            <a:ext cx="384048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400">
                <a:solidFill>
                  <a:srgbClr val="ACB8D0"/>
                </a:solidFill>
                <a:latin typeface="Inter"/>
                <a:ea typeface="Inter"/>
                <a:cs typeface="Inter"/>
              </a:defRPr>
            </a:pPr>
            <a:r>
              <a:rPr sz="1400">
                <a:solidFill>
                  <a:srgbClr val="ACB8D0"/>
                </a:solidFill>
                <a:latin typeface="Inter"/>
                <a:ea typeface="Inter"/>
                <a:cs typeface="Inter"/>
              </a:rPr>
              <a:t>Compare scores and replay a move at its video timestamp.</a:t>
            </a:r>
            <a:endParaRPr sz="1250"/>
          </a:p>
        </p:txBody>
      </p:sp>
      <p:sp>
        <p:nvSpPr>
          <p:cNvPr id="17" name="Shape 15">
            <a:extLst xmlns:a="http://schemas.openxmlformats.org/drawingml/2006/main">
              <a:ext uri="{FF2B5EF4-FFF2-40B4-BE49-F238E27FC236}">
                <a16:creationId xmlns:a16="http://schemas.microsoft.com/office/drawing/2014/main" id="{240FD75E-FBA3-4540-9387-F520B1DA26CB}"/>
              </a:ext>
            </a:extLst>
          </p:cNvPr>
          <p:cNvSpPr>
            <a:spLocks xmlns:a="http://schemas.openxmlformats.org/drawingml/2006/main" noGrp="1"/>
          </p:cNvSpPr>
          <p:nvPr/>
        </p:nvSpPr>
        <p:spPr>
          <a:xfrm xmlns:a="http://schemas.openxmlformats.org/drawingml/2006/main">
            <a:off x="5097780" y="1531620"/>
            <a:ext cx="6345936" cy="3392424"/>
          </a:xfrm>
          <a:prstGeom xmlns:a="http://schemas.openxmlformats.org/drawingml/2006/main" prst="roundRect">
            <a:avLst>
              <a:gd name="adj" fmla="val 2156"/>
            </a:avLst>
          </a:prstGeom>
          <a:solidFill xmlns:a="http://schemas.openxmlformats.org/drawingml/2006/main">
            <a:srgbClr val="111F3E"/>
          </a:solidFill>
          <a:ln xmlns:a="http://schemas.openxmlformats.org/drawingml/2006/main" w="12700">
            <a:solidFill>
              <a:srgbClr val="28395F"/>
            </a:solidFill>
            <a:prstDash val="solid"/>
          </a:ln>
          <a:effectLst xmlns:a="http://schemas.openxmlformats.org/drawingml/2006/main">
            <a:outerShdw blurRad="38100" dist="15240" dir="2700000" algn="bl" rotWithShape="0">
              <a:srgbClr val="000000">
                <a:alpha val="28000"/>
              </a:srgbClr>
            </a:outerShdw>
          </a:effectLst>
        </p:spPr>
        <p:txBody>
          <a:bodyPr xmlns:a="http://schemas.openxmlformats.org/drawingml/2006/main"/>
          <a:lstStyle xmlns:a="http://schemas.openxmlformats.org/drawingml/2006/main"/>
          <a:p xmlns:a="http://schemas.openxmlformats.org/drawingml/2006/main">
            <a:endParaRPr/>
          </a:p>
        </p:txBody>
      </p:sp>
      <p:pic>
        <p:nvPicPr>
          <p:cNvPr id="44" name="Image 0">
            <a:extLst xmlns:a="http://schemas.openxmlformats.org/drawingml/2006/main">
              <a:ext uri="{FF2B5EF4-FFF2-40B4-BE49-F238E27FC236}">
                <a16:creationId xmlns:a16="http://schemas.microsoft.com/office/drawing/2014/main" id="{5386CD9D-DB91-4077-9328-161BC7D985E7}"/>
              </a:ext>
            </a:extLst>
          </p:cNvPr>
          <p:cNvPicPr>
            <a:picLocks xmlns:a="http://schemas.openxmlformats.org/drawingml/2006/main" noChangeAspect="1"/>
          </p:cNvPicPr>
          <p:nvPr/>
        </p:nvPicPr>
        <p:blipFill>
          <a:blip xmlns:r="http://schemas.openxmlformats.org/officeDocument/2006/relationships" xmlns:a="http://schemas.openxmlformats.org/drawingml/2006/main" r:embed="Rb210b3f013fb4d55"/>
          <a:stretch xmlns:a="http://schemas.openxmlformats.org/drawingml/2006/main"/>
        </p:blipFill>
        <p:spPr>
          <a:xfrm xmlns:a="http://schemas.openxmlformats.org/drawingml/2006/main">
            <a:off x="5140429" y="1572846"/>
            <a:ext cx="6260637" cy="3309972"/>
          </a:xfrm>
          <a:prstGeom xmlns:a="http://schemas.openxmlformats.org/drawingml/2006/main" prst="rect">
            <a:avLst/>
          </a:prstGeom>
        </p:spPr>
      </p:pic>
      <p:sp>
        <p:nvSpPr>
          <p:cNvPr id="19" name="Shape 16">
            <a:extLst xmlns:a="http://schemas.openxmlformats.org/drawingml/2006/main">
              <a:ext uri="{FF2B5EF4-FFF2-40B4-BE49-F238E27FC236}">
                <a16:creationId xmlns:a16="http://schemas.microsoft.com/office/drawing/2014/main" id="{9F62189A-E9A8-4C9C-8FF5-5D80951E8CCB}"/>
              </a:ext>
            </a:extLst>
          </p:cNvPr>
          <p:cNvSpPr>
            <a:spLocks xmlns:a="http://schemas.openxmlformats.org/drawingml/2006/main" noGrp="1"/>
          </p:cNvSpPr>
          <p:nvPr/>
        </p:nvSpPr>
        <p:spPr>
          <a:xfrm xmlns:a="http://schemas.openxmlformats.org/drawingml/2006/main">
            <a:off x="9486900" y="4960620"/>
            <a:ext cx="1453896" cy="1453896"/>
          </a:xfrm>
          <a:prstGeom xmlns:a="http://schemas.openxmlformats.org/drawingml/2006/main" prst="roundRect">
            <a:avLst>
              <a:gd name="adj" fmla="val 5031"/>
            </a:avLst>
          </a:prstGeom>
          <a:solidFill xmlns:a="http://schemas.openxmlformats.org/drawingml/2006/main">
            <a:srgbClr val="111F3E"/>
          </a:solidFill>
          <a:ln xmlns:a="http://schemas.openxmlformats.org/drawingml/2006/main" w="12700">
            <a:solidFill>
              <a:srgbClr val="28395F"/>
            </a:solidFill>
            <a:prstDash val="solid"/>
          </a:ln>
          <a:effectLst xmlns:a="http://schemas.openxmlformats.org/drawingml/2006/main">
            <a:outerShdw blurRad="38100" dist="15240" dir="2700000" algn="bl" rotWithShape="0">
              <a:srgbClr val="000000">
                <a:alpha val="28000"/>
              </a:srgbClr>
            </a:outerShdw>
          </a:effectLst>
        </p:spPr>
        <p:txBody>
          <a:bodyPr xmlns:a="http://schemas.openxmlformats.org/drawingml/2006/main"/>
          <a:lstStyle xmlns:a="http://schemas.openxmlformats.org/drawingml/2006/main"/>
          <a:p xmlns:a="http://schemas.openxmlformats.org/drawingml/2006/main">
            <a:endParaRPr/>
          </a:p>
        </p:txBody>
      </p:sp>
      <p:pic>
        <p:nvPicPr>
          <p:cNvPr id="46" name="Image 1">
            <a:extLst xmlns:a="http://schemas.openxmlformats.org/drawingml/2006/main">
              <a:ext uri="{FF2B5EF4-FFF2-40B4-BE49-F238E27FC236}">
                <a16:creationId xmlns:a16="http://schemas.microsoft.com/office/drawing/2014/main" id="{DC297304-85E1-4B7C-A316-B910F902C9D2}"/>
              </a:ext>
            </a:extLst>
          </p:cNvPr>
          <p:cNvPicPr>
            <a:picLocks xmlns:a="http://schemas.openxmlformats.org/drawingml/2006/main" noChangeAspect="1"/>
          </p:cNvPicPr>
          <p:nvPr/>
        </p:nvPicPr>
        <p:blipFill>
          <a:blip xmlns:r="http://schemas.openxmlformats.org/officeDocument/2006/relationships" xmlns:a="http://schemas.openxmlformats.org/drawingml/2006/main" r:embed="Rcf7eff46b493475f"/>
          <a:stretch xmlns:a="http://schemas.openxmlformats.org/drawingml/2006/main">
            <a:fillRect l="0" t="0" r="0" b="0"/>
          </a:stretch>
        </p:blipFill>
        <p:spPr>
          <a:xfrm xmlns:a="http://schemas.openxmlformats.org/drawingml/2006/main">
            <a:off x="9528048" y="5001768"/>
            <a:ext cx="1371600" cy="1371600"/>
          </a:xfrm>
          <a:prstGeom xmlns:a="http://schemas.openxmlformats.org/drawingml/2006/main" prst="rect">
            <a:avLst/>
          </a:prstGeom>
        </p:spPr>
      </p:pic>
      <p:sp>
        <p:nvSpPr>
          <p:cNvPr id="21" name="Text 17">
            <a:extLst xmlns:a="http://schemas.openxmlformats.org/drawingml/2006/main">
              <a:ext uri="{FF2B5EF4-FFF2-40B4-BE49-F238E27FC236}">
                <a16:creationId xmlns:a16="http://schemas.microsoft.com/office/drawing/2014/main" id="{12766DBC-49F3-4FFB-9229-3245F3577354}"/>
              </a:ext>
            </a:extLst>
          </p:cNvPr>
          <p:cNvSpPr>
            <a:spLocks xmlns:a="http://schemas.openxmlformats.org/drawingml/2006/main" noGrp="1"/>
          </p:cNvSpPr>
          <p:nvPr/>
        </p:nvSpPr>
        <p:spPr>
          <a:xfrm xmlns:a="http://schemas.openxmlformats.org/drawingml/2006/main">
            <a:off x="5157216" y="5074920"/>
            <a:ext cx="397764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725" b="1">
                <a:solidFill>
                  <a:srgbClr val="F5F7FF"/>
                </a:solidFill>
                <a:latin typeface="Inter"/>
                <a:ea typeface="Inter"/>
                <a:cs typeface="Inter"/>
              </a:defRPr>
            </a:pPr>
            <a:r>
              <a:rPr sz="1725" b="1">
                <a:solidFill>
                  <a:srgbClr val="F5F7FF"/>
                </a:solidFill>
                <a:latin typeface="Inter"/>
                <a:ea typeface="Inter"/>
                <a:cs typeface="Inter"/>
              </a:rPr>
              <a:t>Every attempt leads to a specific next step.</a:t>
            </a:r>
            <a:endParaRPr sz="1750"/>
          </a:p>
        </p:txBody>
      </p:sp>
      <p:sp>
        <p:nvSpPr>
          <p:cNvPr id="22" name="Text 18">
            <a:extLst xmlns:a="http://schemas.openxmlformats.org/drawingml/2006/main">
              <a:ext uri="{FF2B5EF4-FFF2-40B4-BE49-F238E27FC236}">
                <a16:creationId xmlns:a16="http://schemas.microsoft.com/office/drawing/2014/main" id="{988B7DD3-3600-4008-9598-52C15DC47D8A}"/>
              </a:ext>
            </a:extLst>
          </p:cNvPr>
          <p:cNvSpPr>
            <a:spLocks xmlns:a="http://schemas.openxmlformats.org/drawingml/2006/main" noGrp="1"/>
          </p:cNvSpPr>
          <p:nvPr/>
        </p:nvSpPr>
        <p:spPr>
          <a:xfrm xmlns:a="http://schemas.openxmlformats.org/drawingml/2006/main">
            <a:off x="5157216" y="5760720"/>
            <a:ext cx="402336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400">
                <a:solidFill>
                  <a:srgbClr val="ACB8D0"/>
                </a:solidFill>
                <a:latin typeface="Inter"/>
                <a:ea typeface="Inter"/>
                <a:cs typeface="Inter"/>
              </a:defRPr>
            </a:pPr>
            <a:r>
              <a:rPr sz="1400">
                <a:solidFill>
                  <a:srgbClr val="ACB8D0"/>
                </a:solidFill>
                <a:latin typeface="Inter"/>
                <a:ea typeface="Inter"/>
                <a:cs typeface="Inter"/>
              </a:rPr>
              <a:t>Section and body-part scores feed the Claude coach.</a:t>
            </a:r>
            <a:endParaRPr sz="1250"/>
          </a:p>
        </p:txBody>
      </p:sp>
      <p:sp>
        <p:nvSpPr>
          <p:cNvPr id="25" name="Slide Number Placeholder 0">
            <a:extLst xmlns:a="http://schemas.openxmlformats.org/drawingml/2006/main">
              <a:ext uri="{FF2B5EF4-FFF2-40B4-BE49-F238E27FC236}">
                <a16:creationId xmlns:a16="http://schemas.microsoft.com/office/drawing/2014/main" id="{67598DCC-DB48-49B2-9A02-71DD21FE43BB}"/>
              </a:ext>
            </a:extLst>
          </p:cNvPr>
          <p:cNvSpPr>
            <a:spLocks xmlns:a="http://schemas.openxmlformats.org/drawingml/2006/main" noGrp="1"/>
          </p:cNvSpPr>
          <p:nvPr>
            <p:ph type="sldNum" idx="4294967295"/>
          </p:nvPr>
        </p:nvSpPr>
        <p:spPr>
          <a:xfrm xmlns:a="http://schemas.openxmlformats.org/drawingml/2006/main">
            <a:off x="11384280" y="6473952"/>
            <a:ext cx="384048" cy="182880"/>
          </a:xfrm>
          <a:prstGeom xmlns:a="http://schemas.openxmlformats.org/drawingml/2006/main" prst="rect">
            <a:avLst/>
          </a:prstGeom>
        </p:spPr>
        <p:txBody>
          <a:bodyPr xmlns:a="http://schemas.openxmlformats.org/drawingml/2006/main" lIns="0" tIns="0" rIns="0" bIns="0"/>
          <a:lstStyle xmlns:a="http://schemas.openxmlformats.org/drawingml/2006/main">
            <a:lvl1pPr>
              <a:buNone/>
              <a:defRPr sz="900">
                <a:solidFill>
                  <a:srgbClr val="7081A8"/>
                </a:solidFill>
                <a:latin typeface="Inter"/>
                <a:ea typeface="Inter"/>
                <a:cs typeface="Inter"/>
              </a:defRPr>
            </a:lvl1pPr>
          </a:lstStyle>
          <a:p xmlns:a="http://schemas.openxmlformats.org/drawingml/2006/main">
            <a:pPr algn="r">
              <a:buNone/>
            </a:pPr>
            <a:fld id="{F7021451-1387-4CA6-816F-3879F97B5CBC}" type="slidenum">
              <a:rPr b="0"/>
              <a:t>2</a:t>
            </a:fld>
            <a:endParaRPr/>
          </a:p>
        </p:txBody>
      </p:sp>
      <p:sp>
        <p:nvSpPr>
          <p:cNvPr id="47" name="Concept screen caption">
            <a:extLst xmlns:a="http://schemas.openxmlformats.org/drawingml/2006/main">
              <a:ext uri="{FF2B5EF4-FFF2-40B4-BE49-F238E27FC236}">
                <a16:creationId xmlns:a16="http://schemas.microsoft.com/office/drawing/2014/main" id="{E2288B1E-D79C-4379-86B4-B3429A048420}"/>
              </a:ext>
            </a:extLst>
          </p:cNvPr>
          <p:cNvSpPr>
            <a:spLocks xmlns:a="http://schemas.openxmlformats.org/drawingml/2006/main" noGrp="1"/>
          </p:cNvSpPr>
          <p:nvPr/>
        </p:nvSpPr>
        <p:spPr>
          <a:xfrm xmlns:a="http://schemas.openxmlformats.org/drawingml/2006/main">
            <a:off x="5157216" y="6227064"/>
            <a:ext cx="4023360" cy="182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900">
                <a:solidFill>
                  <a:srgbClr val="7588A9"/>
                </a:solidFill>
                <a:latin typeface="Inter"/>
                <a:ea typeface="Inter"/>
                <a:cs typeface="Inter"/>
              </a:defRPr>
            </a:defPPr>
          </a:lstStyle>
          <a:p xmlns:a="http://schemas.openxmlformats.org/drawingml/2006/main">
            <a:pPr>
              <a:defRPr sz="900">
                <a:solidFill>
                  <a:srgbClr val="7588A9"/>
                </a:solidFill>
                <a:latin typeface="Inter"/>
                <a:ea typeface="Inter"/>
                <a:cs typeface="Inter"/>
              </a:defRPr>
            </a:pPr>
            <a:r>
              <a:rPr sz="900">
                <a:solidFill>
                  <a:srgbClr val="7588A9"/>
                </a:solidFill>
                <a:latin typeface="Inter"/>
                <a:ea typeface="Inter"/>
                <a:cs typeface="Inter"/>
              </a:rPr>
              <a:t>Concept screens with illustrative scores</a:t>
            </a:r>
          </a:p>
        </p:txBody>
      </p:sp>
    </p:spTree>
    <p:extLst>
      <p:ext uri="{BB962C8B-B14F-4D97-AF65-F5344CB8AC3E}">
        <p14:creationId xmlns:p14="http://schemas.microsoft.com/office/powerpoint/2010/main" val="83548470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044673C-79FF-48DD-AAC0-E61CA1F822BA}"/>
              </a:ext>
            </a:extLst>
          </p:cNvPr>
          <p:cNvSpPr>
            <a:spLocks xmlns:a="http://schemas.openxmlformats.org/drawingml/2006/main" noGrp="1"/>
          </p:cNvSpPr>
          <p:nvPr/>
        </p:nvSpPr>
        <p:spPr>
          <a:xfrm xmlns:a="http://schemas.openxmlformats.org/drawingml/2006/main">
            <a:off x="585216" y="621792"/>
            <a:ext cx="1101852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2700" b="1">
                <a:solidFill>
                  <a:srgbClr val="F5F7FF"/>
                </a:solidFill>
                <a:latin typeface="Inter Display"/>
                <a:ea typeface="Inter Display"/>
                <a:cs typeface="Inter Display"/>
              </a:defRPr>
            </a:pPr>
            <a:r>
              <a:rPr sz="2700" b="1">
                <a:solidFill>
                  <a:srgbClr val="F5F7FF"/>
                </a:solidFill>
                <a:latin typeface="Inter Display"/>
                <a:ea typeface="Inter Display"/>
                <a:cs typeface="Inter Display"/>
              </a:rPr>
              <a:t>Claude chooses what to practice next</a:t>
            </a:r>
            <a:endParaRPr sz="3100"/>
          </a:p>
        </p:txBody>
      </p:sp>
      <p:sp>
        <p:nvSpPr>
          <p:cNvPr id="3" name="Text 1">
            <a:extLst xmlns:a="http://schemas.openxmlformats.org/drawingml/2006/main">
              <a:ext uri="{FF2B5EF4-FFF2-40B4-BE49-F238E27FC236}">
                <a16:creationId xmlns:a16="http://schemas.microsoft.com/office/drawing/2014/main" id="{5F84925D-7848-4254-8327-349149F0963A}"/>
              </a:ext>
            </a:extLst>
          </p:cNvPr>
          <p:cNvSpPr>
            <a:spLocks xmlns:a="http://schemas.openxmlformats.org/drawingml/2006/main" noGrp="1"/>
          </p:cNvSpPr>
          <p:nvPr/>
        </p:nvSpPr>
        <p:spPr>
          <a:xfrm xmlns:a="http://schemas.openxmlformats.org/drawingml/2006/main">
            <a:off x="603504" y="1197864"/>
            <a:ext cx="106070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400">
                <a:solidFill>
                  <a:srgbClr val="ACB8D0"/>
                </a:solidFill>
                <a:latin typeface="Inter"/>
                <a:ea typeface="Inter"/>
                <a:cs typeface="Inter"/>
              </a:defRPr>
            </a:pPr>
            <a:r>
              <a:rPr sz="1400">
                <a:solidFill>
                  <a:srgbClr val="ACB8D0"/>
                </a:solidFill>
                <a:latin typeface="Inter"/>
                <a:ea typeface="Inter"/>
                <a:cs typeface="Inter"/>
              </a:rPr>
              <a:t>Performance data becomes a practice section, speed, repeat count and concrete cue.</a:t>
            </a:r>
            <a:endParaRPr sz="1400"/>
          </a:p>
        </p:txBody>
      </p:sp>
      <p:sp>
        <p:nvSpPr>
          <p:cNvPr id="4" name="Shape 2">
            <a:extLst xmlns:a="http://schemas.openxmlformats.org/drawingml/2006/main">
              <a:ext uri="{FF2B5EF4-FFF2-40B4-BE49-F238E27FC236}">
                <a16:creationId xmlns:a16="http://schemas.microsoft.com/office/drawing/2014/main" id="{7E0DB450-57C0-4E11-AB3F-ED247DF0C731}"/>
              </a:ext>
            </a:extLst>
          </p:cNvPr>
          <p:cNvSpPr>
            <a:spLocks xmlns:a="http://schemas.openxmlformats.org/drawingml/2006/main" noGrp="1"/>
          </p:cNvSpPr>
          <p:nvPr/>
        </p:nvSpPr>
        <p:spPr>
          <a:xfrm xmlns:a="http://schemas.openxmlformats.org/drawingml/2006/main">
            <a:off x="5961888" y="2258568"/>
            <a:ext cx="219456" cy="512064"/>
          </a:xfrm>
          <a:prstGeom xmlns:a="http://schemas.openxmlformats.org/drawingml/2006/main" prst="chevron">
            <a:avLst/>
          </a:prstGeom>
          <a:solidFill xmlns:a="http://schemas.openxmlformats.org/drawingml/2006/main">
            <a:srgbClr val="8C6CFF">
              <a:alpha val="95000"/>
            </a:srgbClr>
          </a:solidFill>
          <a:ln xmlns:a="http://schemas.openxmlformats.org/drawingml/2006/main" w="12700">
            <a:solidFill>
              <a:srgbClr val="8C6CFF">
                <a:alpha val="0"/>
              </a:srgbClr>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44ECA3F4-C38F-4EE2-8302-90EBD7C3A125}"/>
              </a:ext>
            </a:extLst>
          </p:cNvPr>
          <p:cNvSpPr>
            <a:spLocks xmlns:a="http://schemas.openxmlformats.org/drawingml/2006/main" noGrp="1"/>
          </p:cNvSpPr>
          <p:nvPr/>
        </p:nvSpPr>
        <p:spPr>
          <a:xfrm xmlns:a="http://schemas.openxmlformats.org/drawingml/2006/main">
            <a:off x="598932" y="1485900"/>
            <a:ext cx="5340096" cy="2404872"/>
          </a:xfrm>
          <a:prstGeom xmlns:a="http://schemas.openxmlformats.org/drawingml/2006/main" prst="roundRect">
            <a:avLst>
              <a:gd name="adj" fmla="val 3042"/>
            </a:avLst>
          </a:prstGeom>
          <a:solidFill xmlns:a="http://schemas.openxmlformats.org/drawingml/2006/main">
            <a:srgbClr val="111F3E"/>
          </a:solidFill>
          <a:ln xmlns:a="http://schemas.openxmlformats.org/drawingml/2006/main" w="12700">
            <a:solidFill>
              <a:srgbClr val="28395F"/>
            </a:solidFill>
            <a:prstDash val="solid"/>
          </a:ln>
          <a:effectLst xmlns:a="http://schemas.openxmlformats.org/drawingml/2006/main">
            <a:outerShdw blurRad="38100" dist="15240" dir="2700000" algn="bl" rotWithShape="0">
              <a:srgbClr val="000000">
                <a:alpha val="28000"/>
              </a:srgbClr>
            </a:outerShdw>
          </a:effectLst>
        </p:spPr>
        <p:txBody>
          <a:bodyPr xmlns:a="http://schemas.openxmlformats.org/drawingml/2006/main"/>
          <a:lstStyle xmlns:a="http://schemas.openxmlformats.org/drawingml/2006/main"/>
          <a:p xmlns:a="http://schemas.openxmlformats.org/drawingml/2006/main">
            <a:endParaRPr/>
          </a:p>
        </p:txBody>
      </p:sp>
      <p:pic>
        <p:nvPicPr>
          <p:cNvPr id="32" name="Image 0">
            <a:extLst xmlns:a="http://schemas.openxmlformats.org/drawingml/2006/main">
              <a:ext uri="{FF2B5EF4-FFF2-40B4-BE49-F238E27FC236}">
                <a16:creationId xmlns:a16="http://schemas.microsoft.com/office/drawing/2014/main" id="{7DFFF0A9-B458-4FE5-B9E7-ACAE235CF0FC}"/>
              </a:ext>
            </a:extLst>
          </p:cNvPr>
          <p:cNvPicPr>
            <a:picLocks xmlns:a="http://schemas.openxmlformats.org/drawingml/2006/main" noChangeAspect="1"/>
          </p:cNvPicPr>
          <p:nvPr/>
        </p:nvPicPr>
        <p:blipFill>
          <a:blip xmlns:r="http://schemas.openxmlformats.org/officeDocument/2006/relationships" xmlns:a="http://schemas.openxmlformats.org/drawingml/2006/main" r:embed="Rf7b823922a3e4429"/>
          <a:stretch xmlns:a="http://schemas.openxmlformats.org/drawingml/2006/main">
            <a:fillRect l="0" t="0" r="0" b="0"/>
          </a:stretch>
        </p:blipFill>
        <p:spPr>
          <a:xfrm xmlns:a="http://schemas.openxmlformats.org/drawingml/2006/main">
            <a:off x="642257" y="1527048"/>
            <a:ext cx="5253446" cy="2322576"/>
          </a:xfrm>
          <a:prstGeom xmlns:a="http://schemas.openxmlformats.org/drawingml/2006/main" prst="rect">
            <a:avLst/>
          </a:prstGeom>
        </p:spPr>
      </p:pic>
      <p:sp>
        <p:nvSpPr>
          <p:cNvPr id="7" name="Shape 4">
            <a:extLst xmlns:a="http://schemas.openxmlformats.org/drawingml/2006/main">
              <a:ext uri="{FF2B5EF4-FFF2-40B4-BE49-F238E27FC236}">
                <a16:creationId xmlns:a16="http://schemas.microsoft.com/office/drawing/2014/main" id="{1E39967B-8F63-46B2-B822-26319A38DAD6}"/>
              </a:ext>
            </a:extLst>
          </p:cNvPr>
          <p:cNvSpPr>
            <a:spLocks xmlns:a="http://schemas.openxmlformats.org/drawingml/2006/main" noGrp="1"/>
          </p:cNvSpPr>
          <p:nvPr/>
        </p:nvSpPr>
        <p:spPr>
          <a:xfrm xmlns:a="http://schemas.openxmlformats.org/drawingml/2006/main">
            <a:off x="6249924" y="1485900"/>
            <a:ext cx="5340096" cy="2386584"/>
          </a:xfrm>
          <a:prstGeom xmlns:a="http://schemas.openxmlformats.org/drawingml/2006/main" prst="roundRect">
            <a:avLst>
              <a:gd name="adj" fmla="val 3065"/>
            </a:avLst>
          </a:prstGeom>
          <a:solidFill xmlns:a="http://schemas.openxmlformats.org/drawingml/2006/main">
            <a:srgbClr val="111F3E"/>
          </a:solidFill>
          <a:ln xmlns:a="http://schemas.openxmlformats.org/drawingml/2006/main" w="12700">
            <a:solidFill>
              <a:srgbClr val="28395F"/>
            </a:solidFill>
            <a:prstDash val="solid"/>
          </a:ln>
          <a:effectLst xmlns:a="http://schemas.openxmlformats.org/drawingml/2006/main">
            <a:outerShdw blurRad="38100" dist="15240" dir="2700000" algn="bl" rotWithShape="0">
              <a:srgbClr val="000000">
                <a:alpha val="28000"/>
              </a:srgbClr>
            </a:outerShdw>
          </a:effectLst>
        </p:spPr>
        <p:txBody>
          <a:bodyPr xmlns:a="http://schemas.openxmlformats.org/drawingml/2006/main"/>
          <a:lstStyle xmlns:a="http://schemas.openxmlformats.org/drawingml/2006/main"/>
          <a:p xmlns:a="http://schemas.openxmlformats.org/drawingml/2006/main">
            <a:endParaRPr/>
          </a:p>
        </p:txBody>
      </p:sp>
      <p:pic>
        <p:nvPicPr>
          <p:cNvPr id="34" name="Image 1">
            <a:extLst xmlns:a="http://schemas.openxmlformats.org/drawingml/2006/main">
              <a:ext uri="{FF2B5EF4-FFF2-40B4-BE49-F238E27FC236}">
                <a16:creationId xmlns:a16="http://schemas.microsoft.com/office/drawing/2014/main" id="{23BD3860-1B19-458A-84EA-7991B6C64809}"/>
              </a:ext>
            </a:extLst>
          </p:cNvPr>
          <p:cNvPicPr>
            <a:picLocks xmlns:a="http://schemas.openxmlformats.org/drawingml/2006/main" noChangeAspect="1"/>
          </p:cNvPicPr>
          <p:nvPr/>
        </p:nvPicPr>
        <p:blipFill>
          <a:blip xmlns:r="http://schemas.openxmlformats.org/officeDocument/2006/relationships" xmlns:a="http://schemas.openxmlformats.org/drawingml/2006/main" r:embed="Rd227ed3213b14240"/>
          <a:stretch xmlns:a="http://schemas.openxmlformats.org/drawingml/2006/main">
            <a:fillRect l="0" t="0" r="0" b="0"/>
          </a:stretch>
        </p:blipFill>
        <p:spPr>
          <a:xfrm xmlns:a="http://schemas.openxmlformats.org/drawingml/2006/main">
            <a:off x="6293358" y="1527048"/>
            <a:ext cx="5253228" cy="2304288"/>
          </a:xfrm>
          <a:prstGeom xmlns:a="http://schemas.openxmlformats.org/drawingml/2006/main" prst="rect">
            <a:avLst/>
          </a:prstGeom>
        </p:spPr>
      </p:pic>
      <p:sp>
        <p:nvSpPr>
          <p:cNvPr id="9" name="Text 5">
            <a:extLst xmlns:a="http://schemas.openxmlformats.org/drawingml/2006/main">
              <a:ext uri="{FF2B5EF4-FFF2-40B4-BE49-F238E27FC236}">
                <a16:creationId xmlns:a16="http://schemas.microsoft.com/office/drawing/2014/main" id="{F1924682-6A74-4E4F-9A5D-D83DFC572B50}"/>
              </a:ext>
            </a:extLst>
          </p:cNvPr>
          <p:cNvSpPr>
            <a:spLocks xmlns:a="http://schemas.openxmlformats.org/drawingml/2006/main" noGrp="1"/>
          </p:cNvSpPr>
          <p:nvPr/>
        </p:nvSpPr>
        <p:spPr>
          <a:xfrm xmlns:a="http://schemas.openxmlformats.org/drawingml/2006/main">
            <a:off x="713232" y="4242816"/>
            <a:ext cx="21945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55D9FF"/>
                </a:solidFill>
                <a:latin typeface="Inter"/>
                <a:ea typeface="Inter"/>
                <a:cs typeface="Inter"/>
              </a:rPr>
              <a:t>1  Diagnose</a:t>
            </a:r>
            <a:endParaRPr sz="1700"/>
          </a:p>
        </p:txBody>
      </p:sp>
      <p:sp>
        <p:nvSpPr>
          <p:cNvPr id="10" name="Text 6">
            <a:extLst xmlns:a="http://schemas.openxmlformats.org/drawingml/2006/main">
              <a:ext uri="{FF2B5EF4-FFF2-40B4-BE49-F238E27FC236}">
                <a16:creationId xmlns:a16="http://schemas.microsoft.com/office/drawing/2014/main" id="{CA0056F3-5D51-4FCA-A41D-4D946B8C2DAA}"/>
              </a:ext>
            </a:extLst>
          </p:cNvPr>
          <p:cNvSpPr>
            <a:spLocks xmlns:a="http://schemas.openxmlformats.org/drawingml/2006/main" noGrp="1"/>
          </p:cNvSpPr>
          <p:nvPr/>
        </p:nvSpPr>
        <p:spPr>
          <a:xfrm xmlns:a="http://schemas.openxmlformats.org/drawingml/2006/main">
            <a:off x="713232" y="4590288"/>
            <a:ext cx="3182112" cy="71323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1400">
                <a:solidFill>
                  <a:srgbClr val="ACB8D0"/>
                </a:solidFill>
                <a:latin typeface="Inter"/>
                <a:ea typeface="Inter"/>
                <a:cs typeface="Inter"/>
              </a:defRPr>
            </a:defPPr>
          </a:lstStyle>
          <a:p xmlns:a="http://schemas.openxmlformats.org/drawingml/2006/main">
            <a:pPr marL="0" indent="0">
              <a:buNone/>
              <a:defRPr sz="1400">
                <a:solidFill>
                  <a:srgbClr val="ACB8D0"/>
                </a:solidFill>
                <a:latin typeface="Inter"/>
                <a:ea typeface="Inter"/>
                <a:cs typeface="Inter"/>
              </a:defRPr>
            </a:pPr>
            <a:r>
              <a:rPr sz="1400">
                <a:solidFill>
                  <a:srgbClr val="ACB8D0"/>
                </a:solidFill>
                <a:latin typeface="Inter"/>
                <a:ea typeface="Inter"/>
                <a:cs typeface="Inter"/>
              </a:rPr>
              <a:t>Use tracking coverage and movement evidence before technique tips.</a:t>
            </a:r>
            <a:endParaRPr sz="1320"/>
          </a:p>
        </p:txBody>
      </p:sp>
      <p:sp>
        <p:nvSpPr>
          <p:cNvPr id="11" name="Text 7">
            <a:extLst xmlns:a="http://schemas.openxmlformats.org/drawingml/2006/main">
              <a:ext uri="{FF2B5EF4-FFF2-40B4-BE49-F238E27FC236}">
                <a16:creationId xmlns:a16="http://schemas.microsoft.com/office/drawing/2014/main" id="{9C21135C-D92C-4007-A19C-CC222420179B}"/>
              </a:ext>
            </a:extLst>
          </p:cNvPr>
          <p:cNvSpPr>
            <a:spLocks xmlns:a="http://schemas.openxmlformats.org/drawingml/2006/main" noGrp="1"/>
          </p:cNvSpPr>
          <p:nvPr/>
        </p:nvSpPr>
        <p:spPr>
          <a:xfrm xmlns:a="http://schemas.openxmlformats.org/drawingml/2006/main">
            <a:off x="4151376" y="4242816"/>
            <a:ext cx="21031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F15CF6"/>
                </a:solidFill>
                <a:latin typeface="Inter"/>
                <a:ea typeface="Inter"/>
                <a:cs typeface="Inter"/>
              </a:rPr>
              <a:t>2  Adapt</a:t>
            </a:r>
            <a:endParaRPr sz="1700"/>
          </a:p>
        </p:txBody>
      </p:sp>
      <p:sp>
        <p:nvSpPr>
          <p:cNvPr id="12" name="Text 8">
            <a:extLst xmlns:a="http://schemas.openxmlformats.org/drawingml/2006/main">
              <a:ext uri="{FF2B5EF4-FFF2-40B4-BE49-F238E27FC236}">
                <a16:creationId xmlns:a16="http://schemas.microsoft.com/office/drawing/2014/main" id="{BCE280C8-6141-4372-9530-3B3E2CEAB976}"/>
              </a:ext>
            </a:extLst>
          </p:cNvPr>
          <p:cNvSpPr>
            <a:spLocks xmlns:a="http://schemas.openxmlformats.org/drawingml/2006/main" noGrp="1"/>
          </p:cNvSpPr>
          <p:nvPr/>
        </p:nvSpPr>
        <p:spPr>
          <a:xfrm xmlns:a="http://schemas.openxmlformats.org/drawingml/2006/main">
            <a:off x="4151376" y="4590288"/>
            <a:ext cx="3017520" cy="71323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400">
                <a:solidFill>
                  <a:srgbClr val="ACB8D0"/>
                </a:solidFill>
                <a:latin typeface="Inter"/>
                <a:ea typeface="Inter"/>
                <a:cs typeface="Inter"/>
              </a:defRPr>
            </a:pPr>
            <a:r>
              <a:rPr sz="1400">
                <a:solidFill>
                  <a:srgbClr val="ACB8D0"/>
                </a:solidFill>
                <a:latin typeface="Inter"/>
                <a:ea typeface="Inter"/>
                <a:cs typeface="Inter"/>
              </a:rPr>
              <a:t>Claude selects the loop, speed, repetitions and one coaching cue.</a:t>
            </a:r>
            <a:endParaRPr sz="1320"/>
          </a:p>
        </p:txBody>
      </p:sp>
      <p:sp>
        <p:nvSpPr>
          <p:cNvPr id="13" name="Text 9">
            <a:extLst xmlns:a="http://schemas.openxmlformats.org/drawingml/2006/main">
              <a:ext uri="{FF2B5EF4-FFF2-40B4-BE49-F238E27FC236}">
                <a16:creationId xmlns:a16="http://schemas.microsoft.com/office/drawing/2014/main" id="{1602A1CA-0C27-42E9-B071-715792CDB0D9}"/>
              </a:ext>
            </a:extLst>
          </p:cNvPr>
          <p:cNvSpPr>
            <a:spLocks xmlns:a="http://schemas.openxmlformats.org/drawingml/2006/main" noGrp="1"/>
          </p:cNvSpPr>
          <p:nvPr/>
        </p:nvSpPr>
        <p:spPr>
          <a:xfrm xmlns:a="http://schemas.openxmlformats.org/drawingml/2006/main">
            <a:off x="7543800" y="4242816"/>
            <a:ext cx="25603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600" b="1">
                <a:solidFill>
                  <a:srgbClr val="40E1AD"/>
                </a:solidFill>
                <a:latin typeface="Inter"/>
                <a:ea typeface="Inter"/>
                <a:cs typeface="Inter"/>
              </a:defRPr>
            </a:pPr>
            <a:r>
              <a:rPr sz="1600" b="1">
                <a:solidFill>
                  <a:srgbClr val="40E1AD"/>
                </a:solidFill>
                <a:latin typeface="Inter"/>
                <a:ea typeface="Inter"/>
                <a:cs typeface="Inter"/>
              </a:rPr>
              <a:t>3  Practice + retry</a:t>
            </a:r>
            <a:endParaRPr sz="1700"/>
          </a:p>
        </p:txBody>
      </p:sp>
      <p:sp>
        <p:nvSpPr>
          <p:cNvPr id="14" name="Text 10">
            <a:extLst xmlns:a="http://schemas.openxmlformats.org/drawingml/2006/main">
              <a:ext uri="{FF2B5EF4-FFF2-40B4-BE49-F238E27FC236}">
                <a16:creationId xmlns:a16="http://schemas.microsoft.com/office/drawing/2014/main" id="{F9E55F83-6597-4069-B9C7-D132C7DB73E0}"/>
              </a:ext>
            </a:extLst>
          </p:cNvPr>
          <p:cNvSpPr>
            <a:spLocks xmlns:a="http://schemas.openxmlformats.org/drawingml/2006/main" noGrp="1"/>
          </p:cNvSpPr>
          <p:nvPr/>
        </p:nvSpPr>
        <p:spPr>
          <a:xfrm xmlns:a="http://schemas.openxmlformats.org/drawingml/2006/main">
            <a:off x="7543800" y="4590288"/>
            <a:ext cx="3383280" cy="71323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400">
                <a:solidFill>
                  <a:srgbClr val="ACB8D0"/>
                </a:solidFill>
                <a:latin typeface="Inter"/>
                <a:ea typeface="Inter"/>
                <a:cs typeface="Inter"/>
              </a:defRPr>
            </a:pPr>
            <a:r>
              <a:rPr sz="1400">
                <a:solidFill>
                  <a:srgbClr val="ACB8D0"/>
                </a:solidFill>
                <a:latin typeface="Inter"/>
                <a:ea typeface="Inter"/>
                <a:cs typeface="Inter"/>
              </a:rPr>
              <a:t>PracticeMode runs the plan. Retry the dance and compare the result.</a:t>
            </a:r>
            <a:endParaRPr sz="1320"/>
          </a:p>
        </p:txBody>
      </p:sp>
      <p:sp>
        <p:nvSpPr>
          <p:cNvPr id="15" name="Shape 11">
            <a:extLst xmlns:a="http://schemas.openxmlformats.org/drawingml/2006/main">
              <a:ext uri="{FF2B5EF4-FFF2-40B4-BE49-F238E27FC236}">
                <a16:creationId xmlns:a16="http://schemas.microsoft.com/office/drawing/2014/main" id="{7C68B452-29BF-4B87-ADAF-68EA45AD9EE4}"/>
              </a:ext>
            </a:extLst>
          </p:cNvPr>
          <p:cNvSpPr>
            <a:spLocks xmlns:a="http://schemas.openxmlformats.org/drawingml/2006/main" noGrp="1"/>
          </p:cNvSpPr>
          <p:nvPr/>
        </p:nvSpPr>
        <p:spPr>
          <a:xfrm xmlns:a="http://schemas.openxmlformats.org/drawingml/2006/main">
            <a:off x="658368" y="5696712"/>
            <a:ext cx="10844784" cy="585216"/>
          </a:xfrm>
          <a:prstGeom xmlns:a="http://schemas.openxmlformats.org/drawingml/2006/main" prst="roundRect">
            <a:avLst/>
          </a:prstGeom>
          <a:solidFill xmlns:a="http://schemas.openxmlformats.org/drawingml/2006/main">
            <a:srgbClr val="111F3E"/>
          </a:solidFill>
          <a:ln xmlns:a="http://schemas.openxmlformats.org/drawingml/2006/main" w="12700">
            <a:solidFill>
              <a:srgbClr val="28395F"/>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Text 12">
            <a:extLst xmlns:a="http://schemas.openxmlformats.org/drawingml/2006/main">
              <a:ext uri="{FF2B5EF4-FFF2-40B4-BE49-F238E27FC236}">
                <a16:creationId xmlns:a16="http://schemas.microsoft.com/office/drawing/2014/main" id="{887B76DB-82A4-4C7F-8F0F-45577B582C0E}"/>
              </a:ext>
            </a:extLst>
          </p:cNvPr>
          <p:cNvSpPr>
            <a:spLocks xmlns:a="http://schemas.openxmlformats.org/drawingml/2006/main" noGrp="1"/>
          </p:cNvSpPr>
          <p:nvPr/>
        </p:nvSpPr>
        <p:spPr>
          <a:xfrm xmlns:a="http://schemas.openxmlformats.org/drawingml/2006/main">
            <a:off x="896112" y="5852160"/>
            <a:ext cx="103784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400" b="1">
                <a:solidFill>
                  <a:srgbClr val="F5F7FF"/>
                </a:solidFill>
                <a:latin typeface="Inter"/>
                <a:ea typeface="Inter"/>
                <a:cs typeface="Inter"/>
              </a:defRPr>
            </a:defPPr>
          </a:lstStyle>
          <a:p xmlns:a="http://schemas.openxmlformats.org/drawingml/2006/main">
            <a:pPr marL="0" indent="0" algn="ctr">
              <a:buNone/>
              <a:defRPr sz="1400" b="1">
                <a:solidFill>
                  <a:srgbClr val="F5F7FF"/>
                </a:solidFill>
                <a:latin typeface="Inter"/>
                <a:ea typeface="Inter"/>
                <a:cs typeface="Inter"/>
              </a:defRPr>
            </a:pPr>
            <a:r>
              <a:rPr sz="1400" b="1">
                <a:solidFill>
                  <a:srgbClr val="F5F7FF"/>
                </a:solidFill>
                <a:latin typeface="Inter"/>
                <a:ea typeface="Inter"/>
                <a:cs typeface="Inter"/>
              </a:rPr>
              <a:t>Built-in coach available. Live Claude needs API credits.</a:t>
            </a:r>
            <a:endParaRPr sz="1750"/>
          </a:p>
        </p:txBody>
      </p:sp>
      <p:sp>
        <p:nvSpPr>
          <p:cNvPr id="25" name="Slide Number Placeholder 0">
            <a:extLst xmlns:a="http://schemas.openxmlformats.org/drawingml/2006/main">
              <a:ext uri="{FF2B5EF4-FFF2-40B4-BE49-F238E27FC236}">
                <a16:creationId xmlns:a16="http://schemas.microsoft.com/office/drawing/2014/main" id="{2C409E5B-598E-47A8-9F1E-ED8793F5DB58}"/>
              </a:ext>
            </a:extLst>
          </p:cNvPr>
          <p:cNvSpPr>
            <a:spLocks xmlns:a="http://schemas.openxmlformats.org/drawingml/2006/main" noGrp="1"/>
          </p:cNvSpPr>
          <p:nvPr>
            <p:ph type="sldNum" idx="4294967295"/>
          </p:nvPr>
        </p:nvSpPr>
        <p:spPr>
          <a:xfrm xmlns:a="http://schemas.openxmlformats.org/drawingml/2006/main">
            <a:off x="11384280" y="6473952"/>
            <a:ext cx="384048" cy="182880"/>
          </a:xfrm>
          <a:prstGeom xmlns:a="http://schemas.openxmlformats.org/drawingml/2006/main" prst="rect">
            <a:avLst/>
          </a:prstGeom>
        </p:spPr>
        <p:txBody>
          <a:bodyPr xmlns:a="http://schemas.openxmlformats.org/drawingml/2006/main" lIns="0" tIns="0" rIns="0" bIns="0"/>
          <a:lstStyle xmlns:a="http://schemas.openxmlformats.org/drawingml/2006/main">
            <a:lvl1pPr>
              <a:buNone/>
              <a:defRPr sz="900">
                <a:solidFill>
                  <a:srgbClr val="7081A8"/>
                </a:solidFill>
                <a:latin typeface="Inter"/>
                <a:ea typeface="Inter"/>
                <a:cs typeface="Inter"/>
              </a:defRPr>
            </a:lvl1pPr>
          </a:lstStyle>
          <a:p xmlns:a="http://schemas.openxmlformats.org/drawingml/2006/main">
            <a:pPr algn="r">
              <a:buNone/>
            </a:pPr>
            <a:fld id="{F7021451-1387-4CA6-816F-3879F97B5CBC}" type="slidenum">
              <a:rPr b="0"/>
              <a:t>3</a:t>
            </a:fld>
            <a:endParaRPr/>
          </a:p>
        </p:txBody>
      </p:sp>
      <p:sp>
        <p:nvSpPr>
          <p:cNvPr id="35" name="Concept plan caption">
            <a:extLst xmlns:a="http://schemas.openxmlformats.org/drawingml/2006/main">
              <a:ext uri="{FF2B5EF4-FFF2-40B4-BE49-F238E27FC236}">
                <a16:creationId xmlns:a16="http://schemas.microsoft.com/office/drawing/2014/main" id="{5B8B59EE-FFD6-4D5D-AB22-E40569178A3E}"/>
              </a:ext>
            </a:extLst>
          </p:cNvPr>
          <p:cNvSpPr>
            <a:spLocks xmlns:a="http://schemas.openxmlformats.org/drawingml/2006/main" noGrp="1"/>
          </p:cNvSpPr>
          <p:nvPr/>
        </p:nvSpPr>
        <p:spPr>
          <a:xfrm xmlns:a="http://schemas.openxmlformats.org/drawingml/2006/main">
            <a:off x="640080" y="3950208"/>
            <a:ext cx="10561320" cy="182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900">
                <a:solidFill>
                  <a:srgbClr val="7588A9"/>
                </a:solidFill>
                <a:latin typeface="Inter"/>
                <a:ea typeface="Inter"/>
                <a:cs typeface="Inter"/>
              </a:defRPr>
            </a:defPPr>
          </a:lstStyle>
          <a:p xmlns:a="http://schemas.openxmlformats.org/drawingml/2006/main">
            <a:pPr>
              <a:defRPr sz="900">
                <a:solidFill>
                  <a:srgbClr val="7588A9"/>
                </a:solidFill>
                <a:latin typeface="Inter"/>
                <a:ea typeface="Inter"/>
                <a:cs typeface="Inter"/>
              </a:defRPr>
            </a:pPr>
            <a:r>
              <a:rPr sz="900">
                <a:solidFill>
                  <a:srgbClr val="7588A9"/>
                </a:solidFill>
                <a:latin typeface="Inter"/>
                <a:ea typeface="Inter"/>
                <a:cs typeface="Inter"/>
              </a:rPr>
              <a:t>Concept screens with an example coaching plan</a:t>
            </a:r>
          </a:p>
        </p:txBody>
      </p:sp>
    </p:spTree>
    <p:extLst>
      <p:ext uri="{BB962C8B-B14F-4D97-AF65-F5344CB8AC3E}">
        <p14:creationId xmlns:p14="http://schemas.microsoft.com/office/powerpoint/2010/main" val="204606244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BDE781F-B620-44B2-9848-2F284028935C}"/>
              </a:ext>
            </a:extLst>
          </p:cNvPr>
          <p:cNvSpPr>
            <a:spLocks xmlns:a="http://schemas.openxmlformats.org/drawingml/2006/main" noGrp="1"/>
          </p:cNvSpPr>
          <p:nvPr/>
        </p:nvSpPr>
        <p:spPr>
          <a:xfrm xmlns:a="http://schemas.openxmlformats.org/drawingml/2006/main">
            <a:off x="585216" y="621792"/>
            <a:ext cx="1101852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2700" b="1">
                <a:solidFill>
                  <a:srgbClr val="F5F7FF"/>
                </a:solidFill>
                <a:latin typeface="Inter Display"/>
                <a:ea typeface="Inter Display"/>
                <a:cs typeface="Inter Display"/>
              </a:defRPr>
            </a:pPr>
            <a:r>
              <a:rPr sz="2700" b="1">
                <a:solidFill>
                  <a:srgbClr val="F5F7FF"/>
                </a:solidFill>
                <a:latin typeface="Inter Display"/>
                <a:ea typeface="Inter Display"/>
                <a:cs typeface="Inter Display"/>
              </a:rPr>
              <a:t>DanceCraft: the coached rematch</a:t>
            </a:r>
            <a:endParaRPr sz="3100"/>
          </a:p>
        </p:txBody>
      </p:sp>
      <p:sp>
        <p:nvSpPr>
          <p:cNvPr id="3" name="Text 1">
            <a:extLst xmlns:a="http://schemas.openxmlformats.org/drawingml/2006/main">
              <a:ext uri="{FF2B5EF4-FFF2-40B4-BE49-F238E27FC236}">
                <a16:creationId xmlns:a16="http://schemas.microsoft.com/office/drawing/2014/main" id="{658B6E1F-B706-4D48-BD4A-CDC8A37DE78C}"/>
              </a:ext>
            </a:extLst>
          </p:cNvPr>
          <p:cNvSpPr>
            <a:spLocks xmlns:a="http://schemas.openxmlformats.org/drawingml/2006/main" noGrp="1"/>
          </p:cNvSpPr>
          <p:nvPr/>
        </p:nvSpPr>
        <p:spPr>
          <a:xfrm xmlns:a="http://schemas.openxmlformats.org/drawingml/2006/main">
            <a:off x="603504" y="1197864"/>
            <a:ext cx="106070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400">
                <a:solidFill>
                  <a:srgbClr val="ACB8D0"/>
                </a:solidFill>
                <a:latin typeface="Inter"/>
                <a:ea typeface="Inter"/>
                <a:cs typeface="Inter"/>
              </a:defRPr>
            </a:pPr>
            <a:r>
              <a:rPr sz="1400">
                <a:solidFill>
                  <a:srgbClr val="ACB8D0"/>
                </a:solidFill>
                <a:latin typeface="Inter"/>
                <a:ea typeface="Inter"/>
                <a:cs typeface="Inter"/>
              </a:rPr>
              <a:t>Built on Groovy’s dance engine, with Claude guiding the next attempt.</a:t>
            </a:r>
            <a:endParaRPr sz="1400"/>
          </a:p>
        </p:txBody>
      </p:sp>
      <p:sp>
        <p:nvSpPr>
          <p:cNvPr id="4" name="Text 2">
            <a:extLst xmlns:a="http://schemas.openxmlformats.org/drawingml/2006/main">
              <a:ext uri="{FF2B5EF4-FFF2-40B4-BE49-F238E27FC236}">
                <a16:creationId xmlns:a16="http://schemas.microsoft.com/office/drawing/2014/main" id="{AE109B4E-8DDF-4425-B1D5-148132AF8198}"/>
              </a:ext>
            </a:extLst>
          </p:cNvPr>
          <p:cNvSpPr>
            <a:spLocks xmlns:a="http://schemas.openxmlformats.org/drawingml/2006/main" noGrp="1"/>
          </p:cNvSpPr>
          <p:nvPr/>
        </p:nvSpPr>
        <p:spPr>
          <a:xfrm xmlns:a="http://schemas.openxmlformats.org/drawingml/2006/main">
            <a:off x="658368" y="1572768"/>
            <a:ext cx="434340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F7F9FF"/>
                </a:solidFill>
                <a:latin typeface="Inter Display"/>
                <a:ea typeface="Inter Display"/>
                <a:cs typeface="Inter Display"/>
              </a:rPr>
              <a:t>Groovy foundation</a:t>
            </a:r>
            <a:endParaRPr sz="2000"/>
          </a:p>
        </p:txBody>
      </p:sp>
      <p:sp>
        <p:nvSpPr>
          <p:cNvPr id="5" name="Text 3">
            <a:extLst xmlns:a="http://schemas.openxmlformats.org/drawingml/2006/main">
              <a:ext uri="{FF2B5EF4-FFF2-40B4-BE49-F238E27FC236}">
                <a16:creationId xmlns:a16="http://schemas.microsoft.com/office/drawing/2014/main" id="{E5A8FEAF-982B-4E9C-95F6-5A0C16159BF4}"/>
              </a:ext>
            </a:extLst>
          </p:cNvPr>
          <p:cNvSpPr>
            <a:spLocks xmlns:a="http://schemas.openxmlformats.org/drawingml/2006/main" noGrp="1"/>
          </p:cNvSpPr>
          <p:nvPr/>
        </p:nvSpPr>
        <p:spPr>
          <a:xfrm xmlns:a="http://schemas.openxmlformats.org/drawingml/2006/main">
            <a:off x="694944" y="1993392"/>
            <a:ext cx="4315968" cy="157276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buNone/>
              <a:defRPr sz="1500">
                <a:solidFill>
                  <a:srgbClr val="ACB8D0"/>
                </a:solidFill>
                <a:latin typeface="Inter"/>
                <a:ea typeface="Inter"/>
                <a:cs typeface="Inter"/>
              </a:defRPr>
            </a:pPr>
            <a:r>
              <a:rPr sz="1500">
                <a:solidFill>
                  <a:srgbClr val="ACB8D0"/>
                </a:solidFill>
                <a:latin typeface="Inter"/>
                <a:ea typeface="Inter"/>
                <a:cs typeface="Inter"/>
              </a:rPr>
              <a:t>✓  Video import and webcam tracking</a:t>
            </a:r>
            <a:endParaRPr sz="1500"/>
          </a:p>
          <a:p xmlns:a="http://schemas.openxmlformats.org/drawingml/2006/main">
            <a:pPr marL="0" indent="0">
              <a:buNone/>
            </a:pPr>
            <a:endParaRPr sz="1500"/>
          </a:p>
          <a:p xmlns:a="http://schemas.openxmlformats.org/drawingml/2006/main">
            <a:pPr marL="0" indent="0">
              <a:buNone/>
              <a:defRPr sz="1500">
                <a:solidFill>
                  <a:srgbClr val="ACB8D0"/>
                </a:solidFill>
                <a:latin typeface="Inter"/>
                <a:ea typeface="Inter"/>
                <a:cs typeface="Inter"/>
              </a:defRPr>
            </a:pPr>
            <a:r>
              <a:rPr sz="1500">
                <a:solidFill>
                  <a:srgbClr val="ACB8D0"/>
                </a:solidFill>
                <a:latin typeface="Inter"/>
                <a:ea typeface="Inter"/>
                <a:cs typeface="Inter"/>
              </a:rPr>
              <a:t>✓  Joint-angle scoring and breakdown</a:t>
            </a:r>
            <a:endParaRPr sz="1500"/>
          </a:p>
          <a:p xmlns:a="http://schemas.openxmlformats.org/drawingml/2006/main">
            <a:pPr marL="0" indent="0">
              <a:buNone/>
            </a:pPr>
            <a:endParaRPr sz="1500"/>
          </a:p>
          <a:p xmlns:a="http://schemas.openxmlformats.org/drawingml/2006/main">
            <a:pPr marL="0" indent="0">
              <a:buNone/>
              <a:defRPr sz="1500">
                <a:solidFill>
                  <a:srgbClr val="ACB8D0"/>
                </a:solidFill>
                <a:latin typeface="Inter"/>
                <a:ea typeface="Inter"/>
                <a:cs typeface="Inter"/>
              </a:defRPr>
            </a:pPr>
            <a:r>
              <a:rPr sz="1500">
                <a:solidFill>
                  <a:srgbClr val="ACB8D0"/>
                </a:solidFill>
                <a:latin typeface="Inter"/>
                <a:ea typeface="Inter"/>
                <a:cs typeface="Inter"/>
              </a:rPr>
              <a:t>✓  Reference timestamps and replay</a:t>
            </a:r>
            <a:endParaRPr sz="1500"/>
          </a:p>
          <a:p xmlns:a="http://schemas.openxmlformats.org/drawingml/2006/main">
            <a:pPr marL="0" indent="0">
              <a:buNone/>
            </a:pPr>
            <a:endParaRPr sz="1500"/>
          </a:p>
          <a:p xmlns:a="http://schemas.openxmlformats.org/drawingml/2006/main">
            <a:pPr marL="0" indent="0">
              <a:buNone/>
              <a:defRPr sz="1500">
                <a:solidFill>
                  <a:srgbClr val="ACB8D0"/>
                </a:solidFill>
                <a:latin typeface="Inter"/>
                <a:ea typeface="Inter"/>
                <a:cs typeface="Inter"/>
              </a:defRPr>
            </a:pPr>
            <a:r>
              <a:rPr sz="1500">
                <a:solidFill>
                  <a:srgbClr val="ACB8D0"/>
                </a:solidFill>
                <a:latin typeface="Inter"/>
                <a:ea typeface="Inter"/>
                <a:cs typeface="Inter"/>
              </a:rPr>
              <a:t>✓  Slow playback and section loops</a:t>
            </a:r>
            <a:endParaRPr sz="1500"/>
          </a:p>
        </p:txBody>
      </p:sp>
      <p:sp>
        <p:nvSpPr>
          <p:cNvPr id="6" name="Shape 4">
            <a:extLst xmlns:a="http://schemas.openxmlformats.org/drawingml/2006/main">
              <a:ext uri="{FF2B5EF4-FFF2-40B4-BE49-F238E27FC236}">
                <a16:creationId xmlns:a16="http://schemas.microsoft.com/office/drawing/2014/main" id="{D99719A7-970A-432E-AA06-B1712D94B0F9}"/>
              </a:ext>
            </a:extLst>
          </p:cNvPr>
          <p:cNvSpPr>
            <a:spLocks xmlns:a="http://schemas.openxmlformats.org/drawingml/2006/main" noGrp="1"/>
          </p:cNvSpPr>
          <p:nvPr/>
        </p:nvSpPr>
        <p:spPr>
          <a:xfrm xmlns:a="http://schemas.openxmlformats.org/drawingml/2006/main">
            <a:off x="5541264" y="1609344"/>
            <a:ext cx="0" cy="1938528"/>
          </a:xfrm>
          <a:prstGeom xmlns:a="http://schemas.openxmlformats.org/drawingml/2006/main" prst="line">
            <a:avLst/>
          </a:prstGeom>
          <a:noFill xmlns:a="http://schemas.openxmlformats.org/drawingml/2006/main"/>
          <a:ln xmlns:a="http://schemas.openxmlformats.org/drawingml/2006/main" w="17780">
            <a:solidFill>
              <a:srgbClr val="28395F"/>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Text 5">
            <a:extLst xmlns:a="http://schemas.openxmlformats.org/drawingml/2006/main">
              <a:ext uri="{FF2B5EF4-FFF2-40B4-BE49-F238E27FC236}">
                <a16:creationId xmlns:a16="http://schemas.microsoft.com/office/drawing/2014/main" id="{250AA808-6E06-46C4-A608-082759CD5E92}"/>
              </a:ext>
            </a:extLst>
          </p:cNvPr>
          <p:cNvSpPr>
            <a:spLocks xmlns:a="http://schemas.openxmlformats.org/drawingml/2006/main" noGrp="1"/>
          </p:cNvSpPr>
          <p:nvPr/>
        </p:nvSpPr>
        <p:spPr>
          <a:xfrm xmlns:a="http://schemas.openxmlformats.org/drawingml/2006/main">
            <a:off x="5989320" y="1572768"/>
            <a:ext cx="448056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F15CF6"/>
                </a:solidFill>
                <a:latin typeface="Inter Display"/>
                <a:ea typeface="Inter Display"/>
                <a:cs typeface="Inter Display"/>
              </a:rPr>
              <a:t>DanceCraft adds</a:t>
            </a:r>
            <a:endParaRPr sz="2000"/>
          </a:p>
        </p:txBody>
      </p:sp>
      <p:sp>
        <p:nvSpPr>
          <p:cNvPr id="8" name="Text 6">
            <a:extLst xmlns:a="http://schemas.openxmlformats.org/drawingml/2006/main">
              <a:ext uri="{FF2B5EF4-FFF2-40B4-BE49-F238E27FC236}">
                <a16:creationId xmlns:a16="http://schemas.microsoft.com/office/drawing/2014/main" id="{C2DC3454-1B2B-4772-A117-AC54F076329B}"/>
              </a:ext>
            </a:extLst>
          </p:cNvPr>
          <p:cNvSpPr>
            <a:spLocks xmlns:a="http://schemas.openxmlformats.org/drawingml/2006/main" noGrp="1"/>
          </p:cNvSpPr>
          <p:nvPr/>
        </p:nvSpPr>
        <p:spPr>
          <a:xfrm xmlns:a="http://schemas.openxmlformats.org/drawingml/2006/main">
            <a:off x="6016752" y="1993392"/>
            <a:ext cx="4709160" cy="157276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1500">
                <a:solidFill>
                  <a:srgbClr val="F5F7FF"/>
                </a:solidFill>
                <a:latin typeface="Inter"/>
                <a:ea typeface="Inter"/>
                <a:cs typeface="Inter"/>
              </a:defRPr>
            </a:defPPr>
          </a:lstStyle>
          <a:p xmlns:a="http://schemas.openxmlformats.org/drawingml/2006/main">
            <a:pPr marL="0" indent="0">
              <a:buNone/>
              <a:defRPr sz="1500">
                <a:solidFill>
                  <a:srgbClr val="F5F7FF"/>
                </a:solidFill>
                <a:latin typeface="Inter"/>
                <a:ea typeface="Inter"/>
                <a:cs typeface="Inter"/>
              </a:defRPr>
            </a:pPr>
            <a:r>
              <a:rPr sz="1500">
                <a:solidFill>
                  <a:srgbClr val="F5F7FF"/>
                </a:solidFill>
                <a:latin typeface="Inter"/>
                <a:ea typeface="Inter"/>
                <a:cs typeface="Inter"/>
              </a:rPr>
              <a:t>01  Claude practice plans</a:t>
            </a:r>
            <a:endParaRPr sz="1500"/>
          </a:p>
          <a:p xmlns:a="http://schemas.openxmlformats.org/drawingml/2006/main">
            <a:pPr marL="0" indent="0">
              <a:buNone/>
            </a:pPr>
            <a:r>
              <a:t/>
            </a:r>
            <a:endParaRPr sz="1500"/>
          </a:p>
          <a:p xmlns:a="http://schemas.openxmlformats.org/drawingml/2006/main">
            <a:pPr marL="0" indent="0">
              <a:buNone/>
              <a:defRPr sz="1500">
                <a:solidFill>
                  <a:srgbClr val="F5F7FF"/>
                </a:solidFill>
                <a:latin typeface="Inter"/>
                <a:ea typeface="Inter"/>
                <a:cs typeface="Inter"/>
              </a:defRPr>
            </a:pPr>
            <a:r>
              <a:rPr sz="1500">
                <a:solidFill>
                  <a:srgbClr val="F5F7FF"/>
                </a:solidFill>
                <a:latin typeface="Inter"/>
                <a:ea typeface="Inter"/>
                <a:cs typeface="Inter"/>
              </a:rPr>
              <a:t>02  Executable loops and repeat counts</a:t>
            </a:r>
            <a:endParaRPr sz="1500"/>
          </a:p>
          <a:p xmlns:a="http://schemas.openxmlformats.org/drawingml/2006/main">
            <a:pPr marL="0" indent="0">
              <a:buNone/>
            </a:pPr>
            <a:r>
              <a:t/>
            </a:r>
            <a:endParaRPr sz="1500"/>
          </a:p>
          <a:p xmlns:a="http://schemas.openxmlformats.org/drawingml/2006/main">
            <a:pPr marL="0" indent="0">
              <a:buNone/>
              <a:defRPr sz="1500">
                <a:solidFill>
                  <a:srgbClr val="F5F7FF"/>
                </a:solidFill>
                <a:latin typeface="Inter"/>
                <a:ea typeface="Inter"/>
                <a:cs typeface="Inter"/>
              </a:defRPr>
            </a:pPr>
            <a:r>
              <a:rPr sz="1500">
                <a:solidFill>
                  <a:srgbClr val="F5F7FF"/>
                </a:solidFill>
                <a:latin typeface="Inter"/>
                <a:ea typeface="Inter"/>
                <a:cs typeface="Inter"/>
              </a:rPr>
              <a:t>03  Motion-aware scores and replay</a:t>
            </a:r>
            <a:endParaRPr sz="1500"/>
          </a:p>
          <a:p xmlns:a="http://schemas.openxmlformats.org/drawingml/2006/main">
            <a:pPr marL="0" indent="0">
              <a:buNone/>
            </a:pPr>
            <a:r>
              <a:t/>
            </a:r>
            <a:endParaRPr sz="1500"/>
          </a:p>
          <a:p xmlns:a="http://schemas.openxmlformats.org/drawingml/2006/main">
            <a:pPr marL="0" indent="0">
              <a:buNone/>
              <a:defRPr sz="1500">
                <a:solidFill>
                  <a:srgbClr val="F5F7FF"/>
                </a:solidFill>
                <a:latin typeface="Inter"/>
                <a:ea typeface="Inter"/>
                <a:cs typeface="Inter"/>
              </a:defRPr>
            </a:pPr>
            <a:r>
              <a:rPr sz="1500">
                <a:solidFill>
                  <a:srgbClr val="F5F7FF"/>
                </a:solidFill>
                <a:latin typeface="Inter"/>
                <a:ea typeface="Inter"/>
                <a:cs typeface="Inter"/>
              </a:rPr>
              <a:t>04  Host challenge and leaderboard</a:t>
            </a:r>
            <a:endParaRPr sz="1500"/>
          </a:p>
        </p:txBody>
      </p:sp>
      <p:sp>
        <p:nvSpPr>
          <p:cNvPr id="9" name="Text 7">
            <a:extLst xmlns:a="http://schemas.openxmlformats.org/drawingml/2006/main">
              <a:ext uri="{FF2B5EF4-FFF2-40B4-BE49-F238E27FC236}">
                <a16:creationId xmlns:a16="http://schemas.microsoft.com/office/drawing/2014/main" id="{845F9734-E39C-49CC-9EAF-E3878B1D6A75}"/>
              </a:ext>
            </a:extLst>
          </p:cNvPr>
          <p:cNvSpPr>
            <a:spLocks xmlns:a="http://schemas.openxmlformats.org/drawingml/2006/main" noGrp="1"/>
          </p:cNvSpPr>
          <p:nvPr/>
        </p:nvSpPr>
        <p:spPr>
          <a:xfrm xmlns:a="http://schemas.openxmlformats.org/drawingml/2006/main">
            <a:off x="658368" y="3895344"/>
            <a:ext cx="27432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900" b="1">
                <a:solidFill>
                  <a:srgbClr val="F7F9FF"/>
                </a:solidFill>
                <a:latin typeface="Inter Display"/>
                <a:ea typeface="Inter Display"/>
                <a:cs typeface="Inter Display"/>
              </a:rPr>
              <a:t>Live demo flow</a:t>
            </a:r>
            <a:endParaRPr sz="1900"/>
          </a:p>
        </p:txBody>
      </p:sp>
      <p:sp>
        <p:nvSpPr>
          <p:cNvPr id="10" name="Shape 8">
            <a:extLst xmlns:a="http://schemas.openxmlformats.org/drawingml/2006/main">
              <a:ext uri="{FF2B5EF4-FFF2-40B4-BE49-F238E27FC236}">
                <a16:creationId xmlns:a16="http://schemas.microsoft.com/office/drawing/2014/main" id="{BD80AD1B-47FC-43DE-95F4-545332092D14}"/>
              </a:ext>
            </a:extLst>
          </p:cNvPr>
          <p:cNvSpPr>
            <a:spLocks xmlns:a="http://schemas.openxmlformats.org/drawingml/2006/main" noGrp="1"/>
          </p:cNvSpPr>
          <p:nvPr/>
        </p:nvSpPr>
        <p:spPr>
          <a:xfrm xmlns:a="http://schemas.openxmlformats.org/drawingml/2006/main">
            <a:off x="617220" y="4329684"/>
            <a:ext cx="2441448" cy="1380744"/>
          </a:xfrm>
          <a:prstGeom xmlns:a="http://schemas.openxmlformats.org/drawingml/2006/main" prst="roundRect">
            <a:avLst>
              <a:gd name="adj" fmla="val 5298"/>
            </a:avLst>
          </a:prstGeom>
          <a:solidFill xmlns:a="http://schemas.openxmlformats.org/drawingml/2006/main">
            <a:srgbClr val="111F3E"/>
          </a:solidFill>
          <a:ln xmlns:a="http://schemas.openxmlformats.org/drawingml/2006/main" w="12700">
            <a:solidFill>
              <a:srgbClr val="28395F"/>
            </a:solidFill>
            <a:prstDash val="solid"/>
          </a:ln>
          <a:effectLst xmlns:a="http://schemas.openxmlformats.org/drawingml/2006/main">
            <a:outerShdw blurRad="38100" dist="15240" dir="2700000" algn="bl" rotWithShape="0">
              <a:srgbClr val="000000">
                <a:alpha val="28000"/>
              </a:srgbClr>
            </a:outerShdw>
          </a:effectLst>
        </p:spPr>
        <p:txBody>
          <a:bodyPr xmlns:a="http://schemas.openxmlformats.org/drawingml/2006/main"/>
          <a:lstStyle xmlns:a="http://schemas.openxmlformats.org/drawingml/2006/main"/>
          <a:p xmlns:a="http://schemas.openxmlformats.org/drawingml/2006/main">
            <a:endParaRPr/>
          </a:p>
        </p:txBody>
      </p:sp>
      <p:pic>
        <p:nvPicPr>
          <p:cNvPr id="39" name="Image 0">
            <a:extLst xmlns:a="http://schemas.openxmlformats.org/drawingml/2006/main">
              <a:ext uri="{FF2B5EF4-FFF2-40B4-BE49-F238E27FC236}">
                <a16:creationId xmlns:a16="http://schemas.microsoft.com/office/drawing/2014/main" id="{BBAB2811-F18F-461A-A1CA-A215C19F07C6}"/>
              </a:ext>
            </a:extLst>
          </p:cNvPr>
          <p:cNvPicPr>
            <a:picLocks xmlns:a="http://schemas.openxmlformats.org/drawingml/2006/main" noChangeAspect="1"/>
          </p:cNvPicPr>
          <p:nvPr/>
        </p:nvPicPr>
        <p:blipFill>
          <a:blip xmlns:r="http://schemas.openxmlformats.org/officeDocument/2006/relationships" xmlns:a="http://schemas.openxmlformats.org/drawingml/2006/main" r:embed="R52d01b3fd8324062"/>
          <a:stretch xmlns:a="http://schemas.openxmlformats.org/drawingml/2006/main"/>
        </p:blipFill>
        <p:spPr>
          <a:xfrm xmlns:a="http://schemas.openxmlformats.org/drawingml/2006/main">
            <a:off x="658368" y="4396419"/>
            <a:ext cx="2359152" cy="1247273"/>
          </a:xfrm>
          <a:prstGeom xmlns:a="http://schemas.openxmlformats.org/drawingml/2006/main" prst="rect">
            <a:avLst/>
          </a:prstGeom>
        </p:spPr>
      </p:pic>
      <p:sp>
        <p:nvSpPr>
          <p:cNvPr id="12" name="Text 9">
            <a:extLst xmlns:a="http://schemas.openxmlformats.org/drawingml/2006/main">
              <a:ext uri="{FF2B5EF4-FFF2-40B4-BE49-F238E27FC236}">
                <a16:creationId xmlns:a16="http://schemas.microsoft.com/office/drawing/2014/main" id="{7E6DF4D4-40C2-44F8-953C-3B6F53AE2BE3}"/>
              </a:ext>
            </a:extLst>
          </p:cNvPr>
          <p:cNvSpPr>
            <a:spLocks xmlns:a="http://schemas.openxmlformats.org/drawingml/2006/main" noGrp="1"/>
          </p:cNvSpPr>
          <p:nvPr/>
        </p:nvSpPr>
        <p:spPr>
          <a:xfrm xmlns:a="http://schemas.openxmlformats.org/drawingml/2006/main">
            <a:off x="658368" y="5779008"/>
            <a:ext cx="235915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8C6CFF"/>
                </a:solidFill>
                <a:latin typeface="Inter"/>
                <a:ea typeface="Inter"/>
                <a:cs typeface="Inter"/>
              </a:rPr>
              <a:t>1  Dance</a:t>
            </a:r>
            <a:endParaRPr sz="1250"/>
          </a:p>
        </p:txBody>
      </p:sp>
      <p:sp>
        <p:nvSpPr>
          <p:cNvPr id="13" name="Shape 10">
            <a:extLst xmlns:a="http://schemas.openxmlformats.org/drawingml/2006/main">
              <a:ext uri="{FF2B5EF4-FFF2-40B4-BE49-F238E27FC236}">
                <a16:creationId xmlns:a16="http://schemas.microsoft.com/office/drawing/2014/main" id="{956188FA-9B24-4AD9-9FB4-BC2C913EF71B}"/>
              </a:ext>
            </a:extLst>
          </p:cNvPr>
          <p:cNvSpPr>
            <a:spLocks xmlns:a="http://schemas.openxmlformats.org/drawingml/2006/main" noGrp="1"/>
          </p:cNvSpPr>
          <p:nvPr/>
        </p:nvSpPr>
        <p:spPr>
          <a:xfrm xmlns:a="http://schemas.openxmlformats.org/drawingml/2006/main">
            <a:off x="3451860" y="4329684"/>
            <a:ext cx="2441448" cy="1380744"/>
          </a:xfrm>
          <a:prstGeom xmlns:a="http://schemas.openxmlformats.org/drawingml/2006/main" prst="roundRect">
            <a:avLst>
              <a:gd name="adj" fmla="val 5298"/>
            </a:avLst>
          </a:prstGeom>
          <a:solidFill xmlns:a="http://schemas.openxmlformats.org/drawingml/2006/main">
            <a:srgbClr val="111F3E"/>
          </a:solidFill>
          <a:ln xmlns:a="http://schemas.openxmlformats.org/drawingml/2006/main" w="12700">
            <a:solidFill>
              <a:srgbClr val="28395F"/>
            </a:solidFill>
            <a:prstDash val="solid"/>
          </a:ln>
          <a:effectLst xmlns:a="http://schemas.openxmlformats.org/drawingml/2006/main">
            <a:outerShdw blurRad="38100" dist="15240" dir="2700000" algn="bl" rotWithShape="0">
              <a:srgbClr val="000000">
                <a:alpha val="28000"/>
              </a:srgbClr>
            </a:outerShdw>
          </a:effectLst>
        </p:spPr>
        <p:txBody>
          <a:bodyPr xmlns:a="http://schemas.openxmlformats.org/drawingml/2006/main"/>
          <a:lstStyle xmlns:a="http://schemas.openxmlformats.org/drawingml/2006/main"/>
          <a:p xmlns:a="http://schemas.openxmlformats.org/drawingml/2006/main">
            <a:endParaRPr/>
          </a:p>
        </p:txBody>
      </p:sp>
      <p:pic>
        <p:nvPicPr>
          <p:cNvPr id="42" name="Image 1">
            <a:extLst xmlns:a="http://schemas.openxmlformats.org/drawingml/2006/main">
              <a:ext uri="{FF2B5EF4-FFF2-40B4-BE49-F238E27FC236}">
                <a16:creationId xmlns:a16="http://schemas.microsoft.com/office/drawing/2014/main" id="{2EC673E8-57CC-4BE8-AED1-78D025195EE9}"/>
              </a:ext>
            </a:extLst>
          </p:cNvPr>
          <p:cNvPicPr>
            <a:picLocks xmlns:a="http://schemas.openxmlformats.org/drawingml/2006/main" noChangeAspect="1"/>
          </p:cNvPicPr>
          <p:nvPr/>
        </p:nvPicPr>
        <p:blipFill>
          <a:blip xmlns:r="http://schemas.openxmlformats.org/officeDocument/2006/relationships" xmlns:a="http://schemas.openxmlformats.org/drawingml/2006/main" r:embed="R51f05aa0ce394212"/>
          <a:srcRect xmlns:a="http://schemas.openxmlformats.org/drawingml/2006/main" l="0" t="22481" r="0" b="22481"/>
          <a:stretch xmlns:a="http://schemas.openxmlformats.org/drawingml/2006/main"/>
        </p:blipFill>
        <p:spPr>
          <a:xfrm xmlns:a="http://schemas.openxmlformats.org/drawingml/2006/main">
            <a:off x="3493008" y="4370832"/>
            <a:ext cx="2359152" cy="1298448"/>
          </a:xfrm>
          <a:prstGeom xmlns:a="http://schemas.openxmlformats.org/drawingml/2006/main" prst="rect">
            <a:avLst/>
          </a:prstGeom>
        </p:spPr>
      </p:pic>
      <p:sp>
        <p:nvSpPr>
          <p:cNvPr id="15" name="Text 11">
            <a:extLst xmlns:a="http://schemas.openxmlformats.org/drawingml/2006/main">
              <a:ext uri="{FF2B5EF4-FFF2-40B4-BE49-F238E27FC236}">
                <a16:creationId xmlns:a16="http://schemas.microsoft.com/office/drawing/2014/main" id="{910041D7-39CC-4FD2-919F-829B64184B45}"/>
              </a:ext>
            </a:extLst>
          </p:cNvPr>
          <p:cNvSpPr>
            <a:spLocks xmlns:a="http://schemas.openxmlformats.org/drawingml/2006/main" noGrp="1"/>
          </p:cNvSpPr>
          <p:nvPr/>
        </p:nvSpPr>
        <p:spPr>
          <a:xfrm xmlns:a="http://schemas.openxmlformats.org/drawingml/2006/main">
            <a:off x="3493008" y="5779008"/>
            <a:ext cx="235915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4BE3A4"/>
                </a:solidFill>
                <a:latin typeface="Inter"/>
                <a:ea typeface="Inter"/>
                <a:cs typeface="Inter"/>
              </a:rPr>
              <a:t>2  Score</a:t>
            </a:r>
            <a:endParaRPr sz="1250"/>
          </a:p>
        </p:txBody>
      </p:sp>
      <p:sp>
        <p:nvSpPr>
          <p:cNvPr id="16" name="Shape 12">
            <a:extLst xmlns:a="http://schemas.openxmlformats.org/drawingml/2006/main">
              <a:ext uri="{FF2B5EF4-FFF2-40B4-BE49-F238E27FC236}">
                <a16:creationId xmlns:a16="http://schemas.microsoft.com/office/drawing/2014/main" id="{9441D150-FD91-4F88-98F5-A4A7F63C4A61}"/>
              </a:ext>
            </a:extLst>
          </p:cNvPr>
          <p:cNvSpPr>
            <a:spLocks xmlns:a="http://schemas.openxmlformats.org/drawingml/2006/main" noGrp="1"/>
          </p:cNvSpPr>
          <p:nvPr/>
        </p:nvSpPr>
        <p:spPr>
          <a:xfrm xmlns:a="http://schemas.openxmlformats.org/drawingml/2006/main">
            <a:off x="6286500" y="4329684"/>
            <a:ext cx="2441448" cy="1380744"/>
          </a:xfrm>
          <a:prstGeom xmlns:a="http://schemas.openxmlformats.org/drawingml/2006/main" prst="roundRect">
            <a:avLst>
              <a:gd name="adj" fmla="val 5298"/>
            </a:avLst>
          </a:prstGeom>
          <a:solidFill xmlns:a="http://schemas.openxmlformats.org/drawingml/2006/main">
            <a:srgbClr val="111F3E"/>
          </a:solidFill>
          <a:ln xmlns:a="http://schemas.openxmlformats.org/drawingml/2006/main" w="12700">
            <a:solidFill>
              <a:srgbClr val="28395F"/>
            </a:solidFill>
            <a:prstDash val="solid"/>
          </a:ln>
          <a:effectLst xmlns:a="http://schemas.openxmlformats.org/drawingml/2006/main">
            <a:outerShdw blurRad="38100" dist="15240" dir="2700000" algn="bl" rotWithShape="0">
              <a:srgbClr val="000000">
                <a:alpha val="28000"/>
              </a:srgbClr>
            </a:outerShdw>
          </a:effectLst>
        </p:spPr>
        <p:txBody>
          <a:bodyPr xmlns:a="http://schemas.openxmlformats.org/drawingml/2006/main"/>
          <a:lstStyle xmlns:a="http://schemas.openxmlformats.org/drawingml/2006/main"/>
          <a:p xmlns:a="http://schemas.openxmlformats.org/drawingml/2006/main">
            <a:endParaRPr/>
          </a:p>
        </p:txBody>
      </p:sp>
      <p:pic>
        <p:nvPicPr>
          <p:cNvPr id="45" name="Image 2">
            <a:extLst xmlns:a="http://schemas.openxmlformats.org/drawingml/2006/main">
              <a:ext uri="{FF2B5EF4-FFF2-40B4-BE49-F238E27FC236}">
                <a16:creationId xmlns:a16="http://schemas.microsoft.com/office/drawing/2014/main" id="{9812BFA7-940D-4B24-9AF3-FF90D3EEE5BC}"/>
              </a:ext>
            </a:extLst>
          </p:cNvPr>
          <p:cNvPicPr>
            <a:picLocks xmlns:a="http://schemas.openxmlformats.org/drawingml/2006/main" noChangeAspect="1"/>
          </p:cNvPicPr>
          <p:nvPr/>
        </p:nvPicPr>
        <p:blipFill>
          <a:blip xmlns:r="http://schemas.openxmlformats.org/officeDocument/2006/relationships" xmlns:a="http://schemas.openxmlformats.org/drawingml/2006/main" r:embed="R8e2cac133e344f1a"/>
          <a:srcRect xmlns:a="http://schemas.openxmlformats.org/drawingml/2006/main" l="9837" t="0" r="9837" b="0"/>
          <a:stretch xmlns:a="http://schemas.openxmlformats.org/drawingml/2006/main"/>
        </p:blipFill>
        <p:spPr>
          <a:xfrm xmlns:a="http://schemas.openxmlformats.org/drawingml/2006/main">
            <a:off x="6327648" y="4370832"/>
            <a:ext cx="2359152" cy="1298448"/>
          </a:xfrm>
          <a:prstGeom xmlns:a="http://schemas.openxmlformats.org/drawingml/2006/main" prst="rect">
            <a:avLst/>
          </a:prstGeom>
        </p:spPr>
      </p:pic>
      <p:sp>
        <p:nvSpPr>
          <p:cNvPr id="18" name="Text 13">
            <a:extLst xmlns:a="http://schemas.openxmlformats.org/drawingml/2006/main">
              <a:ext uri="{FF2B5EF4-FFF2-40B4-BE49-F238E27FC236}">
                <a16:creationId xmlns:a16="http://schemas.microsoft.com/office/drawing/2014/main" id="{82AE4B44-A962-45B5-9F2C-234DDC01E07B}"/>
              </a:ext>
            </a:extLst>
          </p:cNvPr>
          <p:cNvSpPr>
            <a:spLocks xmlns:a="http://schemas.openxmlformats.org/drawingml/2006/main" noGrp="1"/>
          </p:cNvSpPr>
          <p:nvPr/>
        </p:nvSpPr>
        <p:spPr>
          <a:xfrm xmlns:a="http://schemas.openxmlformats.org/drawingml/2006/main">
            <a:off x="6327648" y="5779008"/>
            <a:ext cx="235915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p xmlns:a="http://schemas.openxmlformats.org/drawingml/2006/main">
            <a:pPr marL="0" indent="0" algn="ctr">
              <a:buNone/>
              <a:defRPr sz="1400" b="1">
                <a:solidFill>
                  <a:srgbClr val="ED50ED"/>
                </a:solidFill>
                <a:latin typeface="Inter"/>
                <a:ea typeface="Inter"/>
                <a:cs typeface="Inter"/>
              </a:defRPr>
            </a:pPr>
            <a:r>
              <a:rPr sz="1400" b="1">
                <a:solidFill>
                  <a:srgbClr val="ED50ED"/>
                </a:solidFill>
                <a:latin typeface="Inter"/>
                <a:ea typeface="Inter"/>
                <a:cs typeface="Inter"/>
              </a:rPr>
              <a:t>3  Practice with Claude</a:t>
            </a:r>
            <a:endParaRPr sz="1250"/>
          </a:p>
        </p:txBody>
      </p:sp>
      <p:sp>
        <p:nvSpPr>
          <p:cNvPr id="19" name="Shape 14">
            <a:extLst xmlns:a="http://schemas.openxmlformats.org/drawingml/2006/main">
              <a:ext uri="{FF2B5EF4-FFF2-40B4-BE49-F238E27FC236}">
                <a16:creationId xmlns:a16="http://schemas.microsoft.com/office/drawing/2014/main" id="{309366FB-EFA8-4328-B2B4-362EA46FB4D7}"/>
              </a:ext>
            </a:extLst>
          </p:cNvPr>
          <p:cNvSpPr>
            <a:spLocks xmlns:a="http://schemas.openxmlformats.org/drawingml/2006/main" noGrp="1"/>
          </p:cNvSpPr>
          <p:nvPr/>
        </p:nvSpPr>
        <p:spPr>
          <a:xfrm xmlns:a="http://schemas.openxmlformats.org/drawingml/2006/main">
            <a:off x="9121140" y="4329684"/>
            <a:ext cx="2441448" cy="1380744"/>
          </a:xfrm>
          <a:prstGeom xmlns:a="http://schemas.openxmlformats.org/drawingml/2006/main" prst="roundRect">
            <a:avLst>
              <a:gd name="adj" fmla="val 5298"/>
            </a:avLst>
          </a:prstGeom>
          <a:solidFill xmlns:a="http://schemas.openxmlformats.org/drawingml/2006/main">
            <a:srgbClr val="111F3E"/>
          </a:solidFill>
          <a:ln xmlns:a="http://schemas.openxmlformats.org/drawingml/2006/main" w="12700">
            <a:solidFill>
              <a:srgbClr val="28395F"/>
            </a:solidFill>
            <a:prstDash val="solid"/>
          </a:ln>
          <a:effectLst xmlns:a="http://schemas.openxmlformats.org/drawingml/2006/main">
            <a:outerShdw blurRad="38100" dist="15240" dir="2700000" algn="bl" rotWithShape="0">
              <a:srgbClr val="000000">
                <a:alpha val="28000"/>
              </a:srgbClr>
            </a:outerShdw>
          </a:effectLst>
        </p:spPr>
        <p:txBody>
          <a:bodyPr xmlns:a="http://schemas.openxmlformats.org/drawingml/2006/main"/>
          <a:lstStyle xmlns:a="http://schemas.openxmlformats.org/drawingml/2006/main"/>
          <a:p xmlns:a="http://schemas.openxmlformats.org/drawingml/2006/main">
            <a:endParaRPr/>
          </a:p>
        </p:txBody>
      </p:sp>
      <p:pic>
        <p:nvPicPr>
          <p:cNvPr id="48" name="Image 3">
            <a:extLst xmlns:a="http://schemas.openxmlformats.org/drawingml/2006/main">
              <a:ext uri="{FF2B5EF4-FFF2-40B4-BE49-F238E27FC236}">
                <a16:creationId xmlns:a16="http://schemas.microsoft.com/office/drawing/2014/main" id="{F937FCC7-E09C-4DA6-8391-1B3DE3893CC0}"/>
              </a:ext>
            </a:extLst>
          </p:cNvPr>
          <p:cNvPicPr>
            <a:picLocks xmlns:a="http://schemas.openxmlformats.org/drawingml/2006/main" noChangeAspect="1"/>
          </p:cNvPicPr>
          <p:nvPr/>
        </p:nvPicPr>
        <p:blipFill>
          <a:blip xmlns:r="http://schemas.openxmlformats.org/officeDocument/2006/relationships" xmlns:a="http://schemas.openxmlformats.org/drawingml/2006/main" r:embed="R75f749c7829f4ffc"/>
          <a:srcRect xmlns:a="http://schemas.openxmlformats.org/drawingml/2006/main" l="17846" t="0" r="17846" b="0"/>
          <a:stretch xmlns:a="http://schemas.openxmlformats.org/drawingml/2006/main"/>
        </p:blipFill>
        <p:spPr>
          <a:xfrm xmlns:a="http://schemas.openxmlformats.org/drawingml/2006/main">
            <a:off x="9162288" y="4370832"/>
            <a:ext cx="2359152" cy="1298448"/>
          </a:xfrm>
          <a:prstGeom xmlns:a="http://schemas.openxmlformats.org/drawingml/2006/main" prst="rect">
            <a:avLst/>
          </a:prstGeom>
        </p:spPr>
      </p:pic>
      <p:sp>
        <p:nvSpPr>
          <p:cNvPr id="21" name="Text 15">
            <a:extLst xmlns:a="http://schemas.openxmlformats.org/drawingml/2006/main">
              <a:ext uri="{FF2B5EF4-FFF2-40B4-BE49-F238E27FC236}">
                <a16:creationId xmlns:a16="http://schemas.microsoft.com/office/drawing/2014/main" id="{FD9F25A1-7021-45B2-9DF3-23FD3F6908E0}"/>
              </a:ext>
            </a:extLst>
          </p:cNvPr>
          <p:cNvSpPr>
            <a:spLocks xmlns:a="http://schemas.openxmlformats.org/drawingml/2006/main" noGrp="1"/>
          </p:cNvSpPr>
          <p:nvPr/>
        </p:nvSpPr>
        <p:spPr>
          <a:xfrm xmlns:a="http://schemas.openxmlformats.org/drawingml/2006/main">
            <a:off x="9162288" y="5779008"/>
            <a:ext cx="235915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55D9FF"/>
                </a:solidFill>
                <a:latin typeface="Inter"/>
                <a:ea typeface="Inter"/>
                <a:cs typeface="Inter"/>
              </a:rPr>
              <a:t>4  Rematch</a:t>
            </a:r>
            <a:endParaRPr sz="1250"/>
          </a:p>
        </p:txBody>
      </p:sp>
      <p:sp>
        <p:nvSpPr>
          <p:cNvPr id="22" name="Text 16">
            <a:extLst xmlns:a="http://schemas.openxmlformats.org/drawingml/2006/main">
              <a:ext uri="{FF2B5EF4-FFF2-40B4-BE49-F238E27FC236}">
                <a16:creationId xmlns:a16="http://schemas.microsoft.com/office/drawing/2014/main" id="{DF97D98A-E647-4F56-9F88-E6FEE57C75B6}"/>
              </a:ext>
            </a:extLst>
          </p:cNvPr>
          <p:cNvSpPr>
            <a:spLocks xmlns:a="http://schemas.openxmlformats.org/drawingml/2006/main" noGrp="1"/>
          </p:cNvSpPr>
          <p:nvPr/>
        </p:nvSpPr>
        <p:spPr>
          <a:xfrm xmlns:a="http://schemas.openxmlformats.org/drawingml/2006/main">
            <a:off x="658368" y="6309360"/>
            <a:ext cx="10424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880">
                <a:solidFill>
                  <a:srgbClr val="7588A9"/>
                </a:solidFill>
                <a:latin typeface="Inter"/>
                <a:ea typeface="Inter"/>
                <a:cs typeface="Inter"/>
              </a:defRPr>
            </a:defPPr>
          </a:lstStyle>
          <a:p xmlns:a="http://schemas.openxmlformats.org/drawingml/2006/main">
            <a:pPr marL="0" indent="0">
              <a:buNone/>
              <a:defRPr sz="880">
                <a:solidFill>
                  <a:srgbClr val="7588A9"/>
                </a:solidFill>
                <a:latin typeface="Inter"/>
                <a:ea typeface="Inter"/>
                <a:cs typeface="Inter"/>
              </a:defRPr>
            </a:pPr>
            <a:r>
              <a:rPr sz="880">
                <a:solidFill>
                  <a:srgbClr val="7588A9"/>
                </a:solidFill>
                <a:latin typeface="Inter"/>
                <a:ea typeface="Inter"/>
                <a:cs typeface="Inter"/>
              </a:rPr>
              <a:t>Built on Groovy by JoeyWangTW (MIT). Concept screens show the Claude version.</a:t>
            </a:r>
            <a:endParaRPr sz="950"/>
          </a:p>
        </p:txBody>
      </p:sp>
      <p:sp>
        <p:nvSpPr>
          <p:cNvPr id="25" name="Slide Number Placeholder 0">
            <a:extLst xmlns:a="http://schemas.openxmlformats.org/drawingml/2006/main">
              <a:ext uri="{FF2B5EF4-FFF2-40B4-BE49-F238E27FC236}">
                <a16:creationId xmlns:a16="http://schemas.microsoft.com/office/drawing/2014/main" id="{9D2A8981-39EB-4ACC-8FA0-D233A03551E8}"/>
              </a:ext>
            </a:extLst>
          </p:cNvPr>
          <p:cNvSpPr>
            <a:spLocks xmlns:a="http://schemas.openxmlformats.org/drawingml/2006/main" noGrp="1"/>
          </p:cNvSpPr>
          <p:nvPr>
            <p:ph type="sldNum" idx="4294967295"/>
          </p:nvPr>
        </p:nvSpPr>
        <p:spPr>
          <a:xfrm xmlns:a="http://schemas.openxmlformats.org/drawingml/2006/main">
            <a:off x="11384280" y="6473952"/>
            <a:ext cx="384048" cy="182880"/>
          </a:xfrm>
          <a:prstGeom xmlns:a="http://schemas.openxmlformats.org/drawingml/2006/main" prst="rect">
            <a:avLst/>
          </a:prstGeom>
        </p:spPr>
        <p:txBody>
          <a:bodyPr xmlns:a="http://schemas.openxmlformats.org/drawingml/2006/main" lIns="0" tIns="0" rIns="0" bIns="0"/>
          <a:lstStyle xmlns:a="http://schemas.openxmlformats.org/drawingml/2006/main">
            <a:lvl1pPr>
              <a:buNone/>
              <a:defRPr sz="900">
                <a:solidFill>
                  <a:srgbClr val="7081A8"/>
                </a:solidFill>
                <a:latin typeface="Inter"/>
                <a:ea typeface="Inter"/>
                <a:cs typeface="Inter"/>
              </a:defRPr>
            </a:lvl1pPr>
          </a:lstStyle>
          <a:p xmlns:a="http://schemas.openxmlformats.org/drawingml/2006/main">
            <a:pPr algn="r">
              <a:buNone/>
            </a:pPr>
            <a:fld id="{F7021451-1387-4CA6-816F-3879F97B5CBC}" type="slidenum">
              <a:rPr b="0"/>
              <a:t>4</a:t>
            </a:fld>
            <a:endParaRPr/>
          </a:p>
        </p:txBody>
      </p:sp>
    </p:spTree>
    <p:extLst>
      <p:ext uri="{BB962C8B-B14F-4D97-AF65-F5344CB8AC3E}">
        <p14:creationId xmlns:p14="http://schemas.microsoft.com/office/powerpoint/2010/main" val="69578732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640FF75-95C6-B6C2-7900-B63DB8DD48A4}"/>
              </a:ext>
            </a:extLst>
          </p:cNvPr>
          <p:cNvSpPr>
            <a:spLocks xmlns:a="http://schemas.openxmlformats.org/drawingml/2006/main" noGrp="1"/>
          </p:cNvSpPr>
          <p:nvPr/>
        </p:nvSpPr>
        <p:spPr>
          <a:xfrm xmlns:a="http://schemas.openxmlformats.org/drawingml/2006/main">
            <a:off x="585216" y="621792"/>
            <a:ext cx="1101852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defRPr sz="2700" b="1">
                <a:solidFill>
                  <a:srgbClr val="F5F7FF"/>
                </a:solidFill>
                <a:latin typeface="Inter Display"/>
                <a:ea typeface="Inter Display"/>
                <a:cs typeface="Inter Display"/>
              </a:defRPr>
            </a:defPPr>
          </a:lstStyle>
          <a:p xmlns:a="http://schemas.openxmlformats.org/drawingml/2006/main">
            <a:pPr marL="0" indent="0" algn="ctr">
              <a:buNone/>
              <a:defRPr sz="2700" b="1">
                <a:solidFill>
                  <a:srgbClr val="F5F7FF"/>
                </a:solidFill>
                <a:latin typeface="Inter Display"/>
                <a:ea typeface="Inter Display"/>
                <a:cs typeface="Inter Display"/>
              </a:defRPr>
            </a:pPr>
            <a:r>
              <a:rPr sz="2700" b="1">
                <a:solidFill>
                  <a:srgbClr val="F5F7FF"/>
                </a:solidFill>
                <a:latin typeface="Inter Display"/>
                <a:ea typeface="Inter Display"/>
                <a:cs typeface="Inter Display"/>
              </a:rPr>
              <a:t>Demonstration</a:t>
            </a:r>
            <a:endParaRPr sz="7200"/>
          </a:p>
        </p:txBody>
      </p:sp>
      <p:sp>
        <p:nvSpPr>
          <p:cNvPr id="3" name="Demo subtitle">
            <a:extLst xmlns:a="http://schemas.openxmlformats.org/drawingml/2006/main">
              <a:ext uri="{FF2B5EF4-FFF2-40B4-BE49-F238E27FC236}">
                <a16:creationId xmlns:a16="http://schemas.microsoft.com/office/drawing/2014/main" id="{D195DE52-3ACB-4C15-860C-4B2316A924D3}"/>
              </a:ext>
            </a:extLst>
          </p:cNvPr>
          <p:cNvSpPr>
            <a:spLocks xmlns:a="http://schemas.openxmlformats.org/drawingml/2006/main" noGrp="1"/>
          </p:cNvSpPr>
          <p:nvPr/>
        </p:nvSpPr>
        <p:spPr>
          <a:xfrm xmlns:a="http://schemas.openxmlformats.org/drawingml/2006/main">
            <a:off x="603504" y="1197864"/>
            <a:ext cx="10607040" cy="2560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400">
                <a:solidFill>
                  <a:srgbClr val="ACB8D0"/>
                </a:solidFill>
                <a:latin typeface="Inter"/>
                <a:ea typeface="Inter"/>
                <a:cs typeface="Inter"/>
              </a:defRPr>
            </a:defPPr>
          </a:lstStyle>
          <a:p xmlns:a="http://schemas.openxmlformats.org/drawingml/2006/main">
            <a:pPr>
              <a:defRPr sz="1400">
                <a:solidFill>
                  <a:srgbClr val="ACB8D0"/>
                </a:solidFill>
                <a:latin typeface="Inter"/>
                <a:ea typeface="Inter"/>
                <a:cs typeface="Inter"/>
              </a:defRPr>
            </a:pPr>
            <a:r>
              <a:rPr sz="1400">
                <a:solidFill>
                  <a:srgbClr val="ACB8D0"/>
                </a:solidFill>
                <a:latin typeface="Inter"/>
                <a:ea typeface="Inter"/>
                <a:cs typeface="Inter"/>
              </a:rPr>
              <a:t>The latest saved attempt, with synchronized reference video and audio</a:t>
            </a:r>
          </a:p>
        </p:txBody>
      </p:sp>
      <p:pic>
        <p:nvPicPr>
          <p:cNvPr id="4" name="">
            <a:extLst xmlns:a="http://schemas.openxmlformats.org/drawingml/2006/main">
              <a:ext uri="{FF2B5EF4-FFF2-40B4-BE49-F238E27FC236}">
                <a16:creationId xmlns:a16="http://schemas.microsoft.com/office/drawing/2014/main" id="{87886784-2FDF-4544-B067-CC5DD07D5909}"/>
              </a:ext>
            </a:extLst>
          </p:cNvPr>
          <p:cNvPicPr>
            <a:picLocks xmlns:a="http://schemas.openxmlformats.org/drawingml/2006/main" noChangeAspect="1"/>
          </p:cNvPicPr>
          <p:nvPr/>
        </p:nvPicPr>
        <p:blipFill>
          <a:blip xmlns:r="http://schemas.openxmlformats.org/officeDocument/2006/relationships" xmlns:a="http://schemas.openxmlformats.org/drawingml/2006/main" r:embed="R516d2a6830b04b56"/>
          <a:stretch xmlns:a="http://schemas.openxmlformats.org/drawingml/2006/main"/>
        </p:blipFill>
        <p:spPr>
          <a:xfrm xmlns:a="http://schemas.openxmlformats.org/drawingml/2006/main">
            <a:off x="585216" y="1618488"/>
            <a:ext cx="8174736" cy="4598289"/>
          </a:xfrm>
          <a:prstGeom xmlns:a="http://schemas.openxmlformats.org/drawingml/2006/main" prst="rect">
            <a:avLst/>
          </a:prstGeom>
        </p:spPr>
      </p:pic>
      <p:sp>
        <p:nvSpPr>
          <p:cNvPr id="5" name="Demo right title">
            <a:extLst xmlns:a="http://schemas.openxmlformats.org/drawingml/2006/main">
              <a:ext uri="{FF2B5EF4-FFF2-40B4-BE49-F238E27FC236}">
                <a16:creationId xmlns:a16="http://schemas.microsoft.com/office/drawing/2014/main" id="{4D903C00-F5AE-4433-A76C-045DD8EF5679}"/>
              </a:ext>
            </a:extLst>
          </p:cNvPr>
          <p:cNvSpPr>
            <a:spLocks xmlns:a="http://schemas.openxmlformats.org/drawingml/2006/main" noGrp="1"/>
          </p:cNvSpPr>
          <p:nvPr/>
        </p:nvSpPr>
        <p:spPr>
          <a:xfrm xmlns:a="http://schemas.openxmlformats.org/drawingml/2006/main">
            <a:off x="9107424" y="1810512"/>
            <a:ext cx="2441448"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2000" b="1">
                <a:solidFill>
                  <a:srgbClr val="F5F7FF"/>
                </a:solidFill>
                <a:latin typeface="Inter"/>
                <a:ea typeface="Inter"/>
                <a:cs typeface="Inter"/>
              </a:defRPr>
            </a:defPPr>
          </a:lstStyle>
          <a:p xmlns:a="http://schemas.openxmlformats.org/drawingml/2006/main">
            <a:pPr>
              <a:defRPr sz="2000" b="1">
                <a:solidFill>
                  <a:srgbClr val="F5F7FF"/>
                </a:solidFill>
                <a:latin typeface="Inter"/>
                <a:ea typeface="Inter"/>
                <a:cs typeface="Inter"/>
              </a:defRPr>
            </a:pPr>
            <a:r>
              <a:rPr sz="2000" b="1">
                <a:solidFill>
                  <a:srgbClr val="F5F7FF"/>
                </a:solidFill>
                <a:latin typeface="Inter"/>
                <a:ea typeface="Inter"/>
                <a:cs typeface="Inter"/>
              </a:rPr>
              <a:t>Saved replay</a:t>
            </a:r>
          </a:p>
        </p:txBody>
      </p:sp>
      <p:sp>
        <p:nvSpPr>
          <p:cNvPr id="6" name="Demo right body">
            <a:extLst xmlns:a="http://schemas.openxmlformats.org/drawingml/2006/main">
              <a:ext uri="{FF2B5EF4-FFF2-40B4-BE49-F238E27FC236}">
                <a16:creationId xmlns:a16="http://schemas.microsoft.com/office/drawing/2014/main" id="{75E62BA6-BD32-4AE0-B5B2-0451FBC28AD3}"/>
              </a:ext>
            </a:extLst>
          </p:cNvPr>
          <p:cNvSpPr>
            <a:spLocks xmlns:a="http://schemas.openxmlformats.org/drawingml/2006/main" noGrp="1"/>
          </p:cNvSpPr>
          <p:nvPr/>
        </p:nvSpPr>
        <p:spPr>
          <a:xfrm xmlns:a="http://schemas.openxmlformats.org/drawingml/2006/main">
            <a:off x="9107424" y="2331720"/>
            <a:ext cx="2441448" cy="2011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500">
                <a:solidFill>
                  <a:srgbClr val="ACB8D0"/>
                </a:solidFill>
                <a:latin typeface="Inter"/>
                <a:ea typeface="Inter"/>
                <a:cs typeface="Inter"/>
              </a:defRPr>
            </a:defPPr>
          </a:lstStyle>
          <a:p xmlns:a="http://schemas.openxmlformats.org/drawingml/2006/main">
            <a:pPr>
              <a:defRPr sz="1500">
                <a:solidFill>
                  <a:srgbClr val="ACB8D0"/>
                </a:solidFill>
                <a:latin typeface="Inter"/>
                <a:ea typeface="Inter"/>
                <a:cs typeface="Inter"/>
              </a:defRPr>
            </a:pPr>
            <a:r>
              <a:rPr sz="1500">
                <a:solidFill>
                  <a:srgbClr val="ACB8D0"/>
                </a:solidFill>
                <a:latin typeface="Inter"/>
                <a:ea typeface="Inter"/>
                <a:cs typeface="Inter"/>
              </a:rPr>
              <a:t>Reference and player on one video timeline.</a:t>
            </a:r>
          </a:p>
          <a:p xmlns:a="http://schemas.openxmlformats.org/drawingml/2006/main">
            <a:r>
              <a:t/>
            </a:r>
          </a:p>
          <a:p xmlns:a="http://schemas.openxmlformats.org/drawingml/2006/main">
            <a:pPr>
              <a:defRPr sz="1500">
                <a:solidFill>
                  <a:srgbClr val="ACB8D0"/>
                </a:solidFill>
                <a:latin typeface="Inter"/>
                <a:ea typeface="Inter"/>
                <a:cs typeface="Inter"/>
              </a:defRPr>
            </a:pPr>
            <a:r>
              <a:rPr sz="1500">
                <a:solidFill>
                  <a:srgbClr val="ACB8D0"/>
                </a:solidFill>
                <a:latin typeface="Inter"/>
                <a:ea typeface="Inter"/>
                <a:cs typeface="Inter"/>
              </a:rPr>
              <a:t>Separate skeleton exports reveal how each pose compares.</a:t>
            </a:r>
          </a:p>
        </p:txBody>
      </p:sp>
      <p:sp>
        <p:nvSpPr>
          <p:cNvPr id="7" name="Demo right closing">
            <a:extLst xmlns:a="http://schemas.openxmlformats.org/drawingml/2006/main">
              <a:ext uri="{FF2B5EF4-FFF2-40B4-BE49-F238E27FC236}">
                <a16:creationId xmlns:a16="http://schemas.microsoft.com/office/drawing/2014/main" id="{D086BBF8-ED09-4B5B-AD68-EB7C006E8778}"/>
              </a:ext>
            </a:extLst>
          </p:cNvPr>
          <p:cNvSpPr>
            <a:spLocks xmlns:a="http://schemas.openxmlformats.org/drawingml/2006/main" noGrp="1"/>
          </p:cNvSpPr>
          <p:nvPr/>
        </p:nvSpPr>
        <p:spPr>
          <a:xfrm xmlns:a="http://schemas.openxmlformats.org/drawingml/2006/main">
            <a:off x="9107424" y="5065776"/>
            <a:ext cx="2441448" cy="8229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800" b="1">
                <a:solidFill>
                  <a:srgbClr val="48D7FA"/>
                </a:solidFill>
                <a:latin typeface="Inter"/>
                <a:ea typeface="Inter"/>
                <a:cs typeface="Inter"/>
              </a:defRPr>
            </a:defPPr>
          </a:lstStyle>
          <a:p xmlns:a="http://schemas.openxmlformats.org/drawingml/2006/main">
            <a:pPr>
              <a:defRPr sz="1800" b="1">
                <a:solidFill>
                  <a:srgbClr val="48D7FA"/>
                </a:solidFill>
                <a:latin typeface="Inter"/>
                <a:ea typeface="Inter"/>
                <a:cs typeface="Inter"/>
              </a:defRPr>
            </a:pPr>
            <a:r>
              <a:rPr sz="1800" b="1">
                <a:solidFill>
                  <a:srgbClr val="48D7FA"/>
                </a:solidFill>
                <a:latin typeface="Inter"/>
                <a:ea typeface="Inter"/>
                <a:cs typeface="Inter"/>
              </a:rPr>
              <a:t>Dance. Practice. Rematch.</a:t>
            </a:r>
          </a:p>
        </p:txBody>
      </p:sp>
      <p:sp>
        <p:nvSpPr>
          <p:cNvPr id="8" name="Demo video filename">
            <a:extLst xmlns:a="http://schemas.openxmlformats.org/drawingml/2006/main">
              <a:ext uri="{FF2B5EF4-FFF2-40B4-BE49-F238E27FC236}">
                <a16:creationId xmlns:a16="http://schemas.microsoft.com/office/drawing/2014/main" id="{AC257EA8-B9B9-49F4-89DB-19846F73E2C1}"/>
              </a:ext>
            </a:extLst>
          </p:cNvPr>
          <p:cNvSpPr>
            <a:spLocks xmlns:a="http://schemas.openxmlformats.org/drawingml/2006/main" noGrp="1"/>
          </p:cNvSpPr>
          <p:nvPr/>
        </p:nvSpPr>
        <p:spPr>
          <a:xfrm xmlns:a="http://schemas.openxmlformats.org/drawingml/2006/main">
            <a:off x="585216" y="6400800"/>
            <a:ext cx="10607040"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a:noAutofit/>
          </a:bodyPr>
          <a:lstStyle xmlns:a="http://schemas.openxmlformats.org/drawingml/2006/main">
            <a:defPPr>
              <a:defRPr sz="1050">
                <a:solidFill>
                  <a:srgbClr val="7588A9"/>
                </a:solidFill>
                <a:latin typeface="Inter"/>
                <a:ea typeface="Inter"/>
                <a:cs typeface="Inter"/>
              </a:defRPr>
            </a:defPPr>
          </a:lstStyle>
          <a:p xmlns:a="http://schemas.openxmlformats.org/drawingml/2006/main">
            <a:pPr>
              <a:defRPr sz="1050">
                <a:solidFill>
                  <a:srgbClr val="7588A9"/>
                </a:solidFill>
                <a:latin typeface="Inter"/>
                <a:ea typeface="Inter"/>
                <a:cs typeface="Inter"/>
              </a:defRPr>
            </a:pPr>
            <a:r>
              <a:rPr sz="1050">
                <a:solidFill>
                  <a:srgbClr val="7588A9"/>
                </a:solidFill>
                <a:latin typeface="Inter"/>
                <a:ea typeface="Inter"/>
                <a:cs typeface="Inter"/>
              </a:rPr>
              <a:t>Video: DanceCraft_04_Synced_With_Audio.mp4</a:t>
            </a:r>
          </a:p>
        </p:txBody>
      </p:sp>
    </p:spTree>
    <p:extLst>
      <p:ext uri="{BB962C8B-B14F-4D97-AF65-F5344CB8AC3E}">
        <p14:creationId xmlns:p14="http://schemas.microsoft.com/office/powerpoint/2010/main" val="102428946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3" name="Picture 2">
            <a:extLst xmlns:a="http://schemas.openxmlformats.org/drawingml/2006/main">
              <a:ext uri="{FF2B5EF4-FFF2-40B4-BE49-F238E27FC236}">
                <a16:creationId xmlns:a16="http://schemas.microsoft.com/office/drawing/2014/main" id="{3EBE2AB5-DEE7-4BF0-B492-FD0DEE29C59B}"/>
              </a:ext>
            </a:extLst>
          </p:cNvPr>
          <p:cNvPicPr>
            <a:picLocks xmlns:a="http://schemas.openxmlformats.org/drawingml/2006/main" noChangeAspect="1"/>
          </p:cNvPicPr>
          <p:nvPr/>
        </p:nvPicPr>
        <p:blipFill>
          <a:blip xmlns:r="http://schemas.openxmlformats.org/officeDocument/2006/relationships" xmlns:a="http://schemas.openxmlformats.org/drawingml/2006/main" r:embed="Re7644bf574d54d6d"/>
          <a:srcRect xmlns:a="http://schemas.openxmlformats.org/drawingml/2006/main" l="0" t="5879" r="0" b="6100"/>
          <a:stretch xmlns:a="http://schemas.openxmlformats.org/drawingml/2006/main">
            <a:fillRect l="0" t="0" r="0" b="0"/>
          </a:stretch>
        </p:blipFill>
        <p:spPr>
          <a:xfrm xmlns:a="http://schemas.openxmlformats.org/drawingml/2006/main">
            <a:off x="883393" y="1298448"/>
            <a:ext cx="4795031" cy="4654296"/>
          </a:xfrm>
          <a:prstGeom xmlns:a="http://schemas.openxmlformats.org/drawingml/2006/main" prst="rect">
            <a:avLst/>
          </a:prstGeom>
        </p:spPr>
      </p:pic>
      <p:pic>
        <p:nvPicPr>
          <p:cNvPr id="5" name="Picture 4">
            <a:extLst xmlns:a="http://schemas.openxmlformats.org/drawingml/2006/main">
              <a:ext uri="{FF2B5EF4-FFF2-40B4-BE49-F238E27FC236}">
                <a16:creationId xmlns:a16="http://schemas.microsoft.com/office/drawing/2014/main" id="{0E72B381-5FE0-40EE-AC08-C75250B5866B}"/>
              </a:ext>
            </a:extLst>
          </p:cNvPr>
          <p:cNvPicPr>
            <a:picLocks xmlns:a="http://schemas.openxmlformats.org/drawingml/2006/main" noChangeAspect="1"/>
          </p:cNvPicPr>
          <p:nvPr/>
        </p:nvPicPr>
        <p:blipFill>
          <a:blip xmlns:r="http://schemas.openxmlformats.org/officeDocument/2006/relationships" xmlns:a="http://schemas.openxmlformats.org/drawingml/2006/main" r:embed="Rabb845323ee84a1a"/>
          <a:stretch xmlns:a="http://schemas.openxmlformats.org/drawingml/2006/main">
            <a:fillRect l="0" t="0" r="0" b="0"/>
          </a:stretch>
        </p:blipFill>
        <p:spPr>
          <a:xfrm xmlns:a="http://schemas.openxmlformats.org/drawingml/2006/main">
            <a:off x="6220970" y="1306431"/>
            <a:ext cx="5327902" cy="4646314"/>
          </a:xfrm>
          <a:prstGeom xmlns:a="http://schemas.openxmlformats.org/drawingml/2006/main" prst="rect">
            <a:avLst/>
          </a:prstGeom>
        </p:spPr>
      </p:pic>
    </p:spTree>
    <p:extLst>
      <p:ext uri="{BB962C8B-B14F-4D97-AF65-F5344CB8AC3E}">
        <p14:creationId xmlns:p14="http://schemas.microsoft.com/office/powerpoint/2010/main" val="2710924365"/>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2026-10-16T06:57:11.6470000Z</dcterms:created>
  <dcterms:modified xsi:type="dcterms:W3CDTF">2026-10-16T06:57:11.6470000Z</dcterms:modified>
</coreProperties>
</file>